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2" r:id="rId13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7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SIFT10M 多区域十轮实验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353312"/>
            <a:ext cx="104241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C9D3DE"/>
                </a:solidFill>
                <a:latin typeface="Microsoft YaHei"/>
              </a:rPr>
              <a:t>动态 MERIT 与 DiskANN BFS 的公平 n-cache 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2057400"/>
            <a:ext cx="3337560" cy="1417320"/>
          </a:xfrm>
          <a:prstGeom prst="roundRect">
            <a:avLst/>
          </a:prstGeom>
          <a:solidFill>
            <a:srgbClr val="16856B"/>
          </a:solidFill>
          <a:ln>
            <a:solidFill>
              <a:srgbClr val="168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2331720"/>
            <a:ext cx="299923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</a:rPr>
              <a:t>1,628.59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889504"/>
            <a:ext cx="299923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MERIT QPS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2057400"/>
            <a:ext cx="3337560" cy="1417320"/>
          </a:xfrm>
          <a:prstGeom prst="roundRect">
            <a:avLst/>
          </a:prstGeom>
          <a:solidFill>
            <a:srgbClr val="4C566A"/>
          </a:solidFill>
          <a:ln>
            <a:solidFill>
              <a:srgbClr val="4C5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81144" y="2331720"/>
            <a:ext cx="299923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</a:rPr>
              <a:t>1,356.04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1144" y="2889504"/>
            <a:ext cx="299923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DiskANN BFS QPS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2057400"/>
            <a:ext cx="3337560" cy="1417320"/>
          </a:xfrm>
          <a:prstGeom prst="roundRect">
            <a:avLst/>
          </a:prstGeom>
          <a:solidFill>
            <a:srgbClr val="2F6791"/>
          </a:solidFill>
          <a:ln>
            <a:solidFill>
              <a:srgbClr val="2F6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4464" y="2331720"/>
            <a:ext cx="2999232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</a:rPr>
              <a:t>+20.10%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2889504"/>
            <a:ext cx="299923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Microsoft YaHei"/>
              </a:rPr>
              <a:t>吞吐提升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096512"/>
            <a:ext cx="10744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700" b="0">
                <a:solidFill>
                  <a:srgbClr val="FFFFFF"/>
                </a:solidFill>
                <a:latin typeface="Microsoft YaHei"/>
              </a:rPr>
              <a:t>10 个互不重叠的局部热点区域  ·  每轮 100K 查询  ·  共 1M 查询  ·  16 线程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074920"/>
            <a:ext cx="996696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0">
                <a:solidFill>
                  <a:srgbClr val="D7E0E9"/>
                </a:solidFill>
                <a:latin typeface="Microsoft YaHei"/>
              </a:rPr>
              <a:t>核心结论：动态缓存显著减少平均读盘并提高吞吐，但引入更高内存占用和更差的 P99 尾延迟。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6291072"/>
            <a:ext cx="107899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9BA9B8"/>
                </a:solidFill>
                <a:latin typeface="Microsoft YaHei"/>
              </a:rPr>
              <a:t>数据来源：multiregion/merit_best 与 multiregion/diskann_bfs181k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C2738"/>
                </a:solidFill>
                <a:latin typeface="Microsoft YaHei"/>
              </a:rPr>
              <a:t>1. 实验设计：每轮切换到新的局部热点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636D7C"/>
                </a:solidFill>
                <a:latin typeface="Microsoft YaHei"/>
              </a:rPr>
              <a:t>目标：观察缓存能否适应连续变化的局部访问分布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33271"/>
            <a:ext cx="10972800" cy="16459"/>
          </a:xfrm>
          <a:prstGeom prst="rect">
            <a:avLst/>
          </a:prstGeom>
          <a:solidFill>
            <a:srgbClr val="DA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36D7C"/>
                </a:solidFill>
                <a:latin typeface="Microsoft YaHe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C2738"/>
                </a:solidFill>
                <a:latin typeface="Microsoft YaHei"/>
              </a:rPr>
              <a:t>查询流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932688" cy="658368"/>
          </a:xfrm>
          <a:prstGeom prst="roundRect">
            <a:avLst/>
          </a:prstGeom>
          <a:solidFill>
            <a:srgbClr val="16856B"/>
          </a:solidFill>
          <a:ln>
            <a:solidFill>
              <a:srgbClr val="168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87782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small_x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75688"/>
            <a:ext cx="877824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Microsoft YaHei"/>
              </a:rPr>
              <a:t>100K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37360" y="1700784"/>
            <a:ext cx="932688" cy="658368"/>
          </a:xfrm>
          <a:prstGeom prst="roundRect">
            <a:avLst/>
          </a:prstGeom>
          <a:solidFill>
            <a:srgbClr val="3D9780"/>
          </a:solidFill>
          <a:ln>
            <a:solidFill>
              <a:srgbClr val="3D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64792" y="1828800"/>
            <a:ext cx="87782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small_y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4792" y="2075688"/>
            <a:ext cx="877824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Microsoft YaHei"/>
              </a:rPr>
              <a:t>100K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16352" y="1700784"/>
            <a:ext cx="932688" cy="658368"/>
          </a:xfrm>
          <a:prstGeom prst="roundRect">
            <a:avLst/>
          </a:prstGeom>
          <a:solidFill>
            <a:srgbClr val="16856B"/>
          </a:solidFill>
          <a:ln>
            <a:solidFill>
              <a:srgbClr val="168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43784" y="1828800"/>
            <a:ext cx="87782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small_z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43784" y="2075688"/>
            <a:ext cx="877824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Microsoft YaHei"/>
              </a:rPr>
              <a:t>100K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95344" y="1700784"/>
            <a:ext cx="932688" cy="658368"/>
          </a:xfrm>
          <a:prstGeom prst="roundRect">
            <a:avLst/>
          </a:prstGeom>
          <a:solidFill>
            <a:srgbClr val="3D9780"/>
          </a:solidFill>
          <a:ln>
            <a:solidFill>
              <a:srgbClr val="3D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22776" y="1828800"/>
            <a:ext cx="87782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small_a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22776" y="2075688"/>
            <a:ext cx="877824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Microsoft YaHei"/>
              </a:rPr>
              <a:t>100K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74336" y="1700784"/>
            <a:ext cx="932688" cy="658368"/>
          </a:xfrm>
          <a:prstGeom prst="roundRect">
            <a:avLst/>
          </a:prstGeom>
          <a:solidFill>
            <a:srgbClr val="16856B"/>
          </a:solidFill>
          <a:ln>
            <a:solidFill>
              <a:srgbClr val="168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1768" y="1828800"/>
            <a:ext cx="87782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small_b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01768" y="2075688"/>
            <a:ext cx="877824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Microsoft YaHei"/>
              </a:rPr>
              <a:t>100K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53327" y="1700784"/>
            <a:ext cx="932688" cy="658368"/>
          </a:xfrm>
          <a:prstGeom prst="roundRect">
            <a:avLst/>
          </a:prstGeom>
          <a:solidFill>
            <a:srgbClr val="3D9780"/>
          </a:solidFill>
          <a:ln>
            <a:solidFill>
              <a:srgbClr val="3D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59" y="1828800"/>
            <a:ext cx="87782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small_c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59" y="2075688"/>
            <a:ext cx="877824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Microsoft YaHei"/>
              </a:rPr>
              <a:t>100K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1700784"/>
            <a:ext cx="932688" cy="658368"/>
          </a:xfrm>
          <a:prstGeom prst="roundRect">
            <a:avLst/>
          </a:prstGeom>
          <a:solidFill>
            <a:srgbClr val="16856B"/>
          </a:solidFill>
          <a:ln>
            <a:solidFill>
              <a:srgbClr val="168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59752" y="1828800"/>
            <a:ext cx="87782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small_d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9752" y="2075688"/>
            <a:ext cx="877824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Microsoft YaHei"/>
              </a:rPr>
              <a:t>100K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11312" y="1700784"/>
            <a:ext cx="932688" cy="658368"/>
          </a:xfrm>
          <a:prstGeom prst="roundRect">
            <a:avLst/>
          </a:prstGeom>
          <a:solidFill>
            <a:srgbClr val="3D9780"/>
          </a:solidFill>
          <a:ln>
            <a:solidFill>
              <a:srgbClr val="3D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38744" y="1828800"/>
            <a:ext cx="87782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small_e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38744" y="2075688"/>
            <a:ext cx="877824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Microsoft YaHei"/>
              </a:rPr>
              <a:t>100K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90304" y="1700784"/>
            <a:ext cx="932688" cy="658368"/>
          </a:xfrm>
          <a:prstGeom prst="roundRect">
            <a:avLst/>
          </a:prstGeom>
          <a:solidFill>
            <a:srgbClr val="16856B"/>
          </a:solidFill>
          <a:ln>
            <a:solidFill>
              <a:srgbClr val="168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17736" y="1828800"/>
            <a:ext cx="87782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small_f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17736" y="2075688"/>
            <a:ext cx="877824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Microsoft YaHei"/>
              </a:rPr>
              <a:t>100K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369296" y="1700784"/>
            <a:ext cx="932688" cy="658368"/>
          </a:xfrm>
          <a:prstGeom prst="roundRect">
            <a:avLst/>
          </a:prstGeom>
          <a:solidFill>
            <a:srgbClr val="3D9780"/>
          </a:solidFill>
          <a:ln>
            <a:solidFill>
              <a:srgbClr val="3D9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96728" y="1828800"/>
            <a:ext cx="87782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Microsoft YaHei"/>
              </a:rPr>
              <a:t>small_g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96728" y="2075688"/>
            <a:ext cx="877824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Microsoft YaHei"/>
              </a:rPr>
              <a:t>100K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30384" y="2487168"/>
            <a:ext cx="146304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200" b="1">
                <a:solidFill>
                  <a:srgbClr val="16856B"/>
                </a:solidFill>
                <a:latin typeface="Microsoft YaHei"/>
              </a:rPr>
              <a:t>1M queries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2971800"/>
            <a:ext cx="5349240" cy="2944368"/>
          </a:xfrm>
          <a:prstGeom prst="roundRect">
            <a:avLst/>
          </a:prstGeom>
          <a:solidFill>
            <a:srgbClr val="FFFFFF"/>
          </a:solidFill>
          <a:ln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3182112"/>
            <a:ext cx="1828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C2738"/>
                </a:solidFill>
                <a:latin typeface="Microsoft YaHei"/>
              </a:rPr>
              <a:t>Workload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" y="3611880"/>
            <a:ext cx="4800600" cy="196596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C2738"/>
                </a:solidFill>
                <a:latin typeface="Microsoft YaHei"/>
              </a:defRPr>
            </a:pPr>
            <a:r>
              <a:t>•  SIFT10M：10M 个 128 维 uint8 向量</a:t>
            </a:r>
          </a:p>
          <a:p>
            <a:pPr>
              <a:spcAft>
                <a:spcPts val="900"/>
              </a:spcAft>
              <a:defRPr sz="1600">
                <a:solidFill>
                  <a:srgbClr val="1C2738"/>
                </a:solidFill>
                <a:latin typeface="Microsoft YaHei"/>
              </a:defRPr>
            </a:pPr>
            <a:r>
              <a:t>•  每个区域由图上的局部 BFS 生成</a:t>
            </a:r>
          </a:p>
          <a:p>
            <a:pPr>
              <a:spcAft>
                <a:spcPts val="900"/>
              </a:spcAft>
              <a:defRPr sz="1600">
                <a:solidFill>
                  <a:srgbClr val="1C2738"/>
                </a:solidFill>
                <a:latin typeface="Microsoft YaHei"/>
              </a:defRPr>
            </a:pPr>
            <a:r>
              <a:t>•  10 个区域互不重叠，查询全局不重复</a:t>
            </a:r>
          </a:p>
          <a:p>
            <a:pPr>
              <a:spcAft>
                <a:spcPts val="900"/>
              </a:spcAft>
              <a:defRPr sz="1600">
                <a:solidFill>
                  <a:srgbClr val="1C2738"/>
                </a:solidFill>
                <a:latin typeface="Microsoft YaHei"/>
              </a:defRPr>
            </a:pPr>
            <a:r>
              <a:t>•  查询为 base vector self-query，Recall@1 可精确校验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99632" y="2971800"/>
            <a:ext cx="5321808" cy="2944368"/>
          </a:xfrm>
          <a:prstGeom prst="roundRect">
            <a:avLst/>
          </a:prstGeom>
          <a:solidFill>
            <a:srgbClr val="FFFFFF"/>
          </a:solidFill>
          <a:ln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19088" y="3182112"/>
            <a:ext cx="3108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C2738"/>
                </a:solidFill>
                <a:latin typeface="Microsoft YaHei"/>
              </a:rPr>
              <a:t>Search configuration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37376" y="3611880"/>
            <a:ext cx="4736592" cy="196596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C2738"/>
                </a:solidFill>
                <a:latin typeface="Microsoft YaHei"/>
              </a:defRPr>
            </a:pPr>
            <a:r>
              <a:t>•  L = 50，Beamwidth = 4，K = 1</a:t>
            </a:r>
          </a:p>
          <a:p>
            <a:pPr>
              <a:spcAft>
                <a:spcPts val="900"/>
              </a:spcAft>
              <a:defRPr sz="1600">
                <a:solidFill>
                  <a:srgbClr val="1C2738"/>
                </a:solidFill>
                <a:latin typeface="Microsoft YaHei"/>
              </a:defRPr>
            </a:pPr>
            <a:r>
              <a:t>•  16 个 foreground query threads</a:t>
            </a:r>
          </a:p>
          <a:p>
            <a:pPr>
              <a:spcAft>
                <a:spcPts val="900"/>
              </a:spcAft>
              <a:defRPr sz="1600">
                <a:solidFill>
                  <a:srgbClr val="1C2738"/>
                </a:solidFill>
                <a:latin typeface="Microsoft YaHei"/>
              </a:defRPr>
            </a:pPr>
            <a:r>
              <a:rPr>
                <a:latin typeface="Microsoft YaHei"/>
              </a:rPr>
              <a:t>•  BFS 与 MERIT n-cache 均为 181,238；plain DiskANN 为 0</a:t>
            </a:r>
          </a:p>
          <a:p>
            <a:pPr>
              <a:spcAft>
                <a:spcPts val="900"/>
              </a:spcAft>
              <a:defRPr sz="1600">
                <a:solidFill>
                  <a:srgbClr val="1C2738"/>
                </a:solidFill>
                <a:latin typeface="Microsoft YaHei"/>
              </a:defRPr>
            </a:pPr>
            <a:r>
              <a:t>•  双方 Recall@1 均为 99.99%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C2738"/>
                </a:solidFill>
                <a:latin typeface="Microsoft YaHei"/>
              </a:rPr>
              <a:t>2. 两种方案如何处理访问热点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>
                <a:latin typeface="Microsoft YaHei"/>
              </a:rPr>
              <a:t>无缓存 DiskANN 作为底线；BFS 与 MERIT 使用相同 n-cache 节点数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33271"/>
            <a:ext cx="10972800" cy="16459"/>
          </a:xfrm>
          <a:prstGeom prst="rect">
            <a:avLst/>
          </a:prstGeom>
          <a:solidFill>
            <a:srgbClr val="DA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36D7C"/>
                </a:solidFill>
                <a:latin typeface="Microsoft YaHe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98448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4C566A"/>
                </a:solidFill>
                <a:latin typeface="Microsoft YaHei"/>
              </a:rPr>
              <a:t>DiskANN BFS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47088"/>
            <a:ext cx="1371600" cy="868680"/>
          </a:xfrm>
          <a:prstGeom prst="roundRect">
            <a:avLst/>
          </a:prstGeom>
          <a:solidFill>
            <a:srgbClr val="EAEDF3"/>
          </a:solidFill>
          <a:ln>
            <a:solidFill>
              <a:srgbClr val="4C5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993392"/>
            <a:ext cx="1225296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C2738"/>
                </a:solidFill>
                <a:latin typeface="Microsoft YaHei"/>
              </a:rPr>
              <a:t>查询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1847088"/>
            <a:ext cx="1645920" cy="868680"/>
          </a:xfrm>
          <a:prstGeom prst="roundRect">
            <a:avLst/>
          </a:prstGeom>
          <a:solidFill>
            <a:srgbClr val="EAEDF3"/>
          </a:solidFill>
          <a:ln>
            <a:solidFill>
              <a:srgbClr val="4C5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2032" y="1993392"/>
            <a:ext cx="1499616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C2738"/>
                </a:solidFill>
                <a:latin typeface="Microsoft YaHei"/>
              </a:rPr>
              <a:t>静态 BFS
n-cache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847088"/>
            <a:ext cx="1371600" cy="868680"/>
          </a:xfrm>
          <a:prstGeom prst="roundRect">
            <a:avLst/>
          </a:prstGeom>
          <a:solidFill>
            <a:srgbClr val="EAEDF3"/>
          </a:solidFill>
          <a:ln>
            <a:solidFill>
              <a:srgbClr val="4C56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8032" y="1993392"/>
            <a:ext cx="1225296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1C2738"/>
                </a:solidFill>
                <a:latin typeface="Microsoft YaHei"/>
              </a:rPr>
              <a:t>base index
读盘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84831" y="2276856"/>
            <a:ext cx="384049" cy="0"/>
          </a:xfrm>
          <a:prstGeom prst="line">
            <a:avLst/>
          </a:prstGeom>
          <a:ln w="25400">
            <a:solidFill>
              <a:srgbClr val="4C5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114800" y="2276856"/>
            <a:ext cx="640080" cy="0"/>
          </a:xfrm>
          <a:prstGeom prst="line">
            <a:avLst/>
          </a:prstGeom>
          <a:ln w="25400">
            <a:solidFill>
              <a:srgbClr val="4C56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37960" y="1883664"/>
            <a:ext cx="4709160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0">
                <a:solidFill>
                  <a:srgbClr val="636D7C"/>
                </a:solidFill>
                <a:latin typeface="Microsoft YaHei"/>
              </a:rPr>
              <a:t>缓存内容固定；热点换区后，未覆盖节点继续访问 base index。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154680"/>
            <a:ext cx="10835640" cy="16459"/>
          </a:xfrm>
          <a:prstGeom prst="rect">
            <a:avLst/>
          </a:prstGeom>
          <a:solidFill>
            <a:srgbClr val="DA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456432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16856B"/>
                </a:solidFill>
                <a:latin typeface="Microsoft YaHei"/>
              </a:rPr>
              <a:t>MERIT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005072"/>
            <a:ext cx="1097280" cy="932688"/>
          </a:xfrm>
          <a:prstGeom prst="roundRect">
            <a:avLst/>
          </a:prstGeom>
          <a:solidFill>
            <a:srgbClr val="E4F4EF"/>
          </a:solidFill>
          <a:ln>
            <a:solidFill>
              <a:srgbClr val="168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51376"/>
            <a:ext cx="969264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C2738"/>
                </a:solidFill>
                <a:latin typeface="Microsoft YaHei"/>
              </a:rPr>
              <a:t>查询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57400" y="4005072"/>
            <a:ext cx="1417320" cy="932688"/>
          </a:xfrm>
          <a:prstGeom prst="roundRect">
            <a:avLst/>
          </a:prstGeom>
          <a:solidFill>
            <a:srgbClr val="E4F4EF"/>
          </a:solidFill>
          <a:ln>
            <a:solidFill>
              <a:srgbClr val="168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21408" y="4151376"/>
            <a:ext cx="1289304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C2738"/>
                </a:solidFill>
                <a:latin typeface="Microsoft YaHei"/>
              </a:rPr>
              <a:t>动态
n-cache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94760" y="4005072"/>
            <a:ext cx="1417320" cy="932688"/>
          </a:xfrm>
          <a:prstGeom prst="roundRect">
            <a:avLst/>
          </a:prstGeom>
          <a:solidFill>
            <a:srgbClr val="E4F4EF"/>
          </a:solidFill>
          <a:ln>
            <a:solidFill>
              <a:srgbClr val="168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58768" y="4151376"/>
            <a:ext cx="1289304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C2738"/>
                </a:solidFill>
                <a:latin typeface="Microsoft YaHei"/>
              </a:rPr>
              <a:t>m-cache
热度/边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32120" y="4005072"/>
            <a:ext cx="1508760" cy="932688"/>
          </a:xfrm>
          <a:prstGeom prst="roundRect">
            <a:avLst/>
          </a:prstGeom>
          <a:solidFill>
            <a:srgbClr val="E4F4EF"/>
          </a:solidFill>
          <a:ln>
            <a:solidFill>
              <a:srgbClr val="168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96128" y="4151376"/>
            <a:ext cx="1380743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C2738"/>
                </a:solidFill>
                <a:latin typeface="Microsoft YaHei"/>
              </a:rPr>
              <a:t>d-cache
动态页面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06640" y="4005072"/>
            <a:ext cx="1508760" cy="932688"/>
          </a:xfrm>
          <a:prstGeom prst="roundRect">
            <a:avLst/>
          </a:prstGeom>
          <a:solidFill>
            <a:srgbClr val="E4F4EF"/>
          </a:solidFill>
          <a:ln>
            <a:solidFill>
              <a:srgbClr val="168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70648" y="4151376"/>
            <a:ext cx="1380743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1C2738"/>
                </a:solidFill>
                <a:latin typeface="Microsoft YaHei"/>
              </a:rPr>
              <a:t>base index
回退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810512" y="4471416"/>
            <a:ext cx="246888" cy="0"/>
          </a:xfrm>
          <a:prstGeom prst="line">
            <a:avLst/>
          </a:prstGeom>
          <a:ln w="25400">
            <a:solidFill>
              <a:srgbClr val="168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474720" y="4471416"/>
            <a:ext cx="320040" cy="0"/>
          </a:xfrm>
          <a:prstGeom prst="line">
            <a:avLst/>
          </a:prstGeom>
          <a:ln w="25400">
            <a:solidFill>
              <a:srgbClr val="168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212080" y="4471416"/>
            <a:ext cx="320040" cy="0"/>
          </a:xfrm>
          <a:prstGeom prst="line">
            <a:avLst/>
          </a:prstGeom>
          <a:ln w="25400">
            <a:solidFill>
              <a:srgbClr val="168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040880" y="4471416"/>
            <a:ext cx="365760" cy="0"/>
          </a:xfrm>
          <a:prstGeom prst="line">
            <a:avLst/>
          </a:prstGeom>
          <a:ln w="25400">
            <a:solidFill>
              <a:srgbClr val="1685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189720" y="3822191"/>
            <a:ext cx="2240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72600" y="4041648"/>
            <a:ext cx="1874519" cy="8412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0">
                <a:solidFill>
                  <a:srgbClr val="636D7C"/>
                </a:solidFill>
                <a:latin typeface="Microsoft YaHei"/>
              </a:rPr>
              <a:t>m-cache: 400,002
d-cache: 200,001 pages
score half-life: 25K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5394960"/>
            <a:ext cx="1056132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0">
                <a:solidFill>
                  <a:srgbClr val="1C2738"/>
                </a:solidFill>
                <a:latin typeface="Microsoft YaHei"/>
              </a:rPr>
              <a:t>新区域到来后，访问热度推动节点/页面更新；命中 n-cache 可消除 I/O，d-cache 共置可减少 I/O 请求。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C2738"/>
                </a:solidFill>
                <a:latin typeface="Microsoft YaHei"/>
              </a:rPr>
              <a:t>3. 十轮磁盘读取变化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636D7C"/>
                </a:solidFill>
                <a:latin typeface="Microsoft YaHei"/>
              </a:rPr>
              <a:t>数据点只显示数值；单位统一放在坐标轴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33271"/>
            <a:ext cx="10972800" cy="16459"/>
          </a:xfrm>
          <a:prstGeom prst="rect">
            <a:avLst/>
          </a:prstGeom>
          <a:solidFill>
            <a:srgbClr val="DA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36D7C"/>
                </a:solidFill>
                <a:latin typeface="Microsoft YaHei"/>
              </a:rPr>
              <a:t>4</a:t>
            </a:r>
          </a:p>
        </p:txBody>
      </p:sp>
      <p:pic>
        <p:nvPicPr>
          <p:cNvPr id="9" name="Picture 8" descr="sift10m_small_regions_10round_disk_r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10927080" cy="546923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8680" y="6144768"/>
            <a:ext cx="10469880" cy="411480"/>
          </a:xfrm>
          <a:prstGeom prst="roundRect">
            <a:avLst/>
          </a:prstGeom>
          <a:solidFill>
            <a:srgbClr val="E4F4EF"/>
          </a:solidFill>
          <a:ln>
            <a:solidFill>
              <a:srgbClr val="E4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6236208"/>
            <a:ext cx="10195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16856B"/>
                </a:solidFill>
                <a:latin typeface="Microsoft YaHei"/>
              </a:rPr>
              <a:t>第 1 轮处于冷启动；从第 2 轮开始，MERIT 每轮读盘均显著低于 BFS。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881360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1C2738"/>
                </a:solidFill>
                <a:latin typeface="Microsoft YaHei"/>
              </a:rPr>
              <a:t>4. 十轮 QPS 变化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789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>
                <a:solidFill>
                  <a:srgbClr val="636D7C"/>
                </a:solidFill>
                <a:latin typeface="Microsoft YaHei"/>
              </a:rPr>
              <a:t>逐轮 QPS 由每轮平均 latency × 16 线程折算，并用完整运行的实测 QPS 校准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33271"/>
            <a:ext cx="10972800" cy="16459"/>
          </a:xfrm>
          <a:prstGeom prst="rect">
            <a:avLst/>
          </a:prstGeom>
          <a:solidFill>
            <a:srgbClr val="DA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ift10m_small_regions_10round_q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143000"/>
            <a:ext cx="10927080" cy="547208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8680" y="6144768"/>
            <a:ext cx="10469880" cy="411480"/>
          </a:xfrm>
          <a:prstGeom prst="roundRect">
            <a:avLst/>
          </a:prstGeom>
          <a:solidFill>
            <a:srgbClr val="E4F4EF"/>
          </a:solidFill>
          <a:ln>
            <a:solidFill>
              <a:srgbClr val="E4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6236208"/>
            <a:ext cx="1019556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16856B"/>
                </a:solidFill>
                <a:latin typeface="Microsoft YaHei"/>
              </a:rPr>
              <a:t>前两轮在线学习与写页拖慢 MERIT；第 3–10 轮均超过 BFS，完整运行 QPS 提高 20.10%。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636D7C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881360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1C2738"/>
                </a:solidFill>
                <a:latin typeface="Microsoft YaHei"/>
              </a:rPr>
              <a:t>5. 总体结果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7899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50" b="0">
                <a:solidFill>
                  <a:srgbClr val="636D7C"/>
                </a:solidFill>
                <a:latin typeface="Microsoft YaHei"/>
              </a:rPr>
              <a:t>三种方案使用相同查询流、L、beamwidth和线程数；变化列为 MERIT 相对 BFS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33271"/>
            <a:ext cx="10972800" cy="16459"/>
          </a:xfrm>
          <a:prstGeom prst="rect">
            <a:avLst/>
          </a:prstGeom>
          <a:solidFill>
            <a:srgbClr val="DADEE5"/>
          </a:solidFill>
          <a:ln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298448"/>
            <a:ext cx="2148840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636D7C"/>
                </a:solidFill>
                <a:latin typeface="Microsoft YaHei"/>
              </a:rPr>
              <a:t>指标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1298448"/>
            <a:ext cx="1417320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9A6A43"/>
                </a:solidFill>
                <a:latin typeface="Microsoft YaHei"/>
              </a:rPr>
              <a:t>DiskANN
无缓存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45152" y="1298448"/>
            <a:ext cx="1600200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4C566A"/>
                </a:solidFill>
                <a:latin typeface="Microsoft YaHei"/>
              </a:rPr>
              <a:t>DiskANN BFS
181,238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298448"/>
            <a:ext cx="1417320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16856B"/>
                </a:solidFill>
                <a:latin typeface="Microsoft YaHei"/>
              </a:rPr>
              <a:t>MERIT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7072" y="1298448"/>
            <a:ext cx="2148840" cy="43891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636D7C"/>
                </a:solidFill>
                <a:latin typeface="Microsoft YaHei"/>
              </a:rPr>
              <a:t>MERIT vs BFS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828800"/>
            <a:ext cx="108813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38528"/>
            <a:ext cx="20574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50" b="1">
                <a:solidFill>
                  <a:srgbClr val="1C2738"/>
                </a:solidFill>
                <a:latin typeface="Microsoft YaHei"/>
              </a:rPr>
              <a:t>QPS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1938528"/>
            <a:ext cx="14173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50" b="0">
                <a:solidFill>
                  <a:srgbClr val="9A6A43"/>
                </a:solidFill>
                <a:latin typeface="Microsoft YaHei"/>
              </a:rPr>
              <a:t>863.82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1938528"/>
            <a:ext cx="1600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50" b="0">
                <a:solidFill>
                  <a:srgbClr val="4C566A"/>
                </a:solidFill>
                <a:latin typeface="Microsoft YaHei"/>
              </a:rPr>
              <a:t>1,356.04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938528"/>
            <a:ext cx="14173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50" b="1">
                <a:solidFill>
                  <a:srgbClr val="16856B"/>
                </a:solidFill>
                <a:latin typeface="Microsoft YaHei"/>
              </a:rPr>
              <a:t>1,628.59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1938528"/>
            <a:ext cx="21488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50" b="1">
                <a:solidFill>
                  <a:srgbClr val="16856B"/>
                </a:solidFill>
                <a:latin typeface="Microsoft YaHei"/>
              </a:rPr>
              <a:t>+20.10%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505456"/>
            <a:ext cx="10881360" cy="548640"/>
          </a:xfrm>
          <a:prstGeom prst="rect">
            <a:avLst/>
          </a:prstGeom>
          <a:solidFill>
            <a:srgbClr val="F3F5F8"/>
          </a:solidFill>
          <a:ln>
            <a:solidFill>
              <a:srgbClr val="F3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615184"/>
            <a:ext cx="20574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50" b="0">
                <a:solidFill>
                  <a:srgbClr val="1C2738"/>
                </a:solidFill>
                <a:latin typeface="Microsoft YaHei"/>
              </a:rPr>
              <a:t>Mean latency (ms)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2615184"/>
            <a:ext cx="14173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50" b="0">
                <a:solidFill>
                  <a:srgbClr val="9A6A43"/>
                </a:solidFill>
                <a:latin typeface="Microsoft YaHei"/>
              </a:rPr>
              <a:t>18.47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2" y="2615184"/>
            <a:ext cx="1600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50" b="0">
                <a:solidFill>
                  <a:srgbClr val="4C566A"/>
                </a:solidFill>
                <a:latin typeface="Microsoft YaHei"/>
              </a:rPr>
              <a:t>11.75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615184"/>
            <a:ext cx="14173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50" b="1">
                <a:solidFill>
                  <a:srgbClr val="16856B"/>
                </a:solidFill>
                <a:latin typeface="Microsoft YaHei"/>
              </a:rPr>
              <a:t>9.76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2615184"/>
            <a:ext cx="21488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50" b="1">
                <a:solidFill>
                  <a:srgbClr val="16856B"/>
                </a:solidFill>
                <a:latin typeface="Microsoft YaHei"/>
              </a:rPr>
              <a:t>−16.90%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182112"/>
            <a:ext cx="108813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291840"/>
            <a:ext cx="20574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50" b="0">
                <a:solidFill>
                  <a:srgbClr val="1C2738"/>
                </a:solidFill>
                <a:latin typeface="Microsoft YaHei"/>
              </a:rPr>
              <a:t>P99 latency (ms)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3291840"/>
            <a:ext cx="14173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50" b="0">
                <a:solidFill>
                  <a:srgbClr val="9A6A43"/>
                </a:solidFill>
                <a:latin typeface="Microsoft YaHei"/>
              </a:rPr>
              <a:t>24.64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3291840"/>
            <a:ext cx="1600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50" b="0">
                <a:solidFill>
                  <a:srgbClr val="4C566A"/>
                </a:solidFill>
                <a:latin typeface="Microsoft YaHei"/>
              </a:rPr>
              <a:t>15.96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291840"/>
            <a:ext cx="14173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50" b="1">
                <a:solidFill>
                  <a:srgbClr val="16856B"/>
                </a:solidFill>
                <a:latin typeface="Microsoft YaHei"/>
              </a:rPr>
              <a:t>33.34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77072" y="3291840"/>
            <a:ext cx="21488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50" b="1">
                <a:solidFill>
                  <a:srgbClr val="BC4343"/>
                </a:solidFill>
                <a:latin typeface="Microsoft YaHei"/>
              </a:rPr>
              <a:t>+108.97%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858768"/>
            <a:ext cx="10881360" cy="548640"/>
          </a:xfrm>
          <a:prstGeom prst="rect">
            <a:avLst/>
          </a:prstGeom>
          <a:solidFill>
            <a:srgbClr val="F3F5F8"/>
          </a:solidFill>
          <a:ln>
            <a:solidFill>
              <a:srgbClr val="F3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968496"/>
            <a:ext cx="20574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50" b="1">
                <a:solidFill>
                  <a:srgbClr val="1C2738"/>
                </a:solidFill>
                <a:latin typeface="Microsoft YaHei"/>
              </a:rPr>
              <a:t>Disk reads / query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3968496"/>
            <a:ext cx="14173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50" b="0">
                <a:solidFill>
                  <a:srgbClr val="9A6A43"/>
                </a:solidFill>
                <a:latin typeface="Microsoft YaHei"/>
              </a:rPr>
              <a:t>65.13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5152" y="3968496"/>
            <a:ext cx="1600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50" b="0">
                <a:solidFill>
                  <a:srgbClr val="4C566A"/>
                </a:solidFill>
                <a:latin typeface="Microsoft YaHei"/>
              </a:rPr>
              <a:t>51.40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968496"/>
            <a:ext cx="14173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50" b="1">
                <a:solidFill>
                  <a:srgbClr val="16856B"/>
                </a:solidFill>
                <a:latin typeface="Microsoft YaHei"/>
              </a:rPr>
              <a:t>27.38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77072" y="3968496"/>
            <a:ext cx="21488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50" b="1">
                <a:solidFill>
                  <a:srgbClr val="16856B"/>
                </a:solidFill>
                <a:latin typeface="Microsoft YaHei"/>
              </a:rPr>
              <a:t>−46.73%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535424"/>
            <a:ext cx="10881360" cy="5486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645152"/>
            <a:ext cx="20574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50" b="0">
                <a:solidFill>
                  <a:srgbClr val="1C2738"/>
                </a:solidFill>
                <a:latin typeface="Microsoft YaHei"/>
              </a:rPr>
              <a:t>Recall@1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71800" y="4645152"/>
            <a:ext cx="14173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50" b="0">
                <a:solidFill>
                  <a:srgbClr val="9A6A43"/>
                </a:solidFill>
                <a:latin typeface="Microsoft YaHei"/>
              </a:rPr>
              <a:t>99.99%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45152" y="4645152"/>
            <a:ext cx="1600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50" b="0">
                <a:solidFill>
                  <a:srgbClr val="4C566A"/>
                </a:solidFill>
                <a:latin typeface="Microsoft YaHei"/>
              </a:rPr>
              <a:t>99.99%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4645152"/>
            <a:ext cx="14173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50" b="1">
                <a:solidFill>
                  <a:srgbClr val="16856B"/>
                </a:solidFill>
                <a:latin typeface="Microsoft YaHei"/>
              </a:rPr>
              <a:t>99.99%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77072" y="4645152"/>
            <a:ext cx="21488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50" b="1">
                <a:solidFill>
                  <a:srgbClr val="4C566A"/>
                </a:solidFill>
                <a:latin typeface="Microsoft YaHei"/>
              </a:rPr>
              <a:t>持平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5212080"/>
            <a:ext cx="10881360" cy="548640"/>
          </a:xfrm>
          <a:prstGeom prst="rect">
            <a:avLst/>
          </a:prstGeom>
          <a:solidFill>
            <a:srgbClr val="F3F5F8"/>
          </a:solidFill>
          <a:ln>
            <a:solidFill>
              <a:srgbClr val="F3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321808"/>
            <a:ext cx="20574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50" b="0">
                <a:solidFill>
                  <a:srgbClr val="1C2738"/>
                </a:solidFill>
                <a:latin typeface="Microsoft YaHei"/>
              </a:rPr>
              <a:t>Peak RSS (GiB)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71800" y="5321808"/>
            <a:ext cx="14173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50" b="0">
                <a:solidFill>
                  <a:srgbClr val="9A6A43"/>
                </a:solidFill>
                <a:latin typeface="Microsoft YaHei"/>
              </a:rPr>
              <a:t>1.73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45152" y="5321808"/>
            <a:ext cx="1600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50" b="0">
                <a:solidFill>
                  <a:srgbClr val="4C566A"/>
                </a:solidFill>
                <a:latin typeface="Microsoft YaHei"/>
              </a:rPr>
              <a:t>1.83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5321808"/>
            <a:ext cx="14173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50" b="1">
                <a:solidFill>
                  <a:srgbClr val="16856B"/>
                </a:solidFill>
                <a:latin typeface="Microsoft YaHei"/>
              </a:rPr>
              <a:t>5.42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77072" y="5321808"/>
            <a:ext cx="21488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50" b="1">
                <a:solidFill>
                  <a:srgbClr val="BC4343"/>
                </a:solidFill>
                <a:latin typeface="Microsoft YaHei"/>
              </a:rPr>
              <a:t>2.96×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6016752"/>
            <a:ext cx="10607040" cy="34747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20" b="0">
                <a:solidFill>
                  <a:srgbClr val="636D7C"/>
                </a:solidFill>
                <a:latin typeface="Microsoft YaHei"/>
              </a:rPr>
              <a:t>无缓存 DiskANN 给出绝对基线；BFS 隔离 n-cache 收益；MERIT 展示动态 n/m/d-cache 的整体收益与代价。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900" b="0">
                <a:solidFill>
                  <a:srgbClr val="636D7C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C2738"/>
                </a:solidFill>
                <a:latin typeface="Microsoft YaHei"/>
              </a:rPr>
              <a:t>6. 如何解读这个实验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636D7C"/>
                </a:solidFill>
                <a:latin typeface="Microsoft YaHei"/>
              </a:rPr>
              <a:t>结论成立于“局部热点持续切换”的 workload，不应扩大为所有查询分布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033271"/>
            <a:ext cx="10972800" cy="16459"/>
          </a:xfrm>
          <a:prstGeom prst="rect">
            <a:avLst/>
          </a:prstGeom>
          <a:solidFill>
            <a:srgbClr val="DADE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36D7C"/>
                </a:solidFill>
                <a:latin typeface="Microsoft YaHe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25880"/>
            <a:ext cx="534924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600200"/>
            <a:ext cx="201168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16856B"/>
                </a:solidFill>
                <a:latin typeface="Microsoft YaHei"/>
              </a:rPr>
              <a:t>证明了什么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4800600" cy="297180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C2738"/>
                </a:solidFill>
                <a:latin typeface="Microsoft YaHei"/>
              </a:defRPr>
            </a:pPr>
            <a:r>
              <a:t>•  动态缓存能跟随新的局部热点重新组织内容</a:t>
            </a:r>
          </a:p>
          <a:p>
            <a:pPr>
              <a:spcAft>
                <a:spcPts val="900"/>
              </a:spcAft>
              <a:defRPr sz="1600">
                <a:solidFill>
                  <a:srgbClr val="1C2738"/>
                </a:solidFill>
                <a:latin typeface="Microsoft YaHei"/>
              </a:defRPr>
            </a:pPr>
            <a:r>
              <a:t>•  减少 46.73% 的平均读盘，带来 20.10% QPS 提升</a:t>
            </a:r>
          </a:p>
          <a:p>
            <a:pPr>
              <a:spcAft>
                <a:spcPts val="900"/>
              </a:spcAft>
              <a:defRPr sz="1600">
                <a:solidFill>
                  <a:srgbClr val="1C2738"/>
                </a:solidFill>
                <a:latin typeface="Microsoft YaHei"/>
              </a:defRPr>
            </a:pPr>
            <a:r>
              <a:t>•  Recall 未下降，收益不是由降低准确率换取</a:t>
            </a:r>
          </a:p>
          <a:p>
            <a:pPr>
              <a:spcAft>
                <a:spcPts val="900"/>
              </a:spcAft>
              <a:defRPr sz="1600">
                <a:solidFill>
                  <a:srgbClr val="1C2738"/>
                </a:solidFill>
                <a:latin typeface="Microsoft YaHei"/>
              </a:defRPr>
            </a:pPr>
            <a:r>
              <a:t>•  静态 BFS cache 对跨区域热点的适应能力有限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325880"/>
            <a:ext cx="5321808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A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1600200"/>
            <a:ext cx="201168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BC4343"/>
                </a:solidFill>
                <a:latin typeface="Microsoft YaHei"/>
              </a:rPr>
              <a:t>仍需注意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2103120"/>
            <a:ext cx="4754880" cy="297180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C2738"/>
                </a:solidFill>
                <a:latin typeface="Microsoft YaHei"/>
              </a:defRPr>
            </a:pPr>
            <a:r>
              <a:t>•  仅 n-cache 节点数相同；MERIT 额外使用 m-cache 和 d-cache</a:t>
            </a:r>
          </a:p>
          <a:p>
            <a:pPr>
              <a:spcAft>
                <a:spcPts val="900"/>
              </a:spcAft>
              <a:defRPr sz="1600">
                <a:solidFill>
                  <a:srgbClr val="1C2738"/>
                </a:solidFill>
                <a:latin typeface="Microsoft YaHei"/>
              </a:defRPr>
            </a:pPr>
            <a:r>
              <a:t>•  MERIT 峰值内存约为 BFS 的 2.96 倍</a:t>
            </a:r>
          </a:p>
          <a:p>
            <a:pPr>
              <a:spcAft>
                <a:spcPts val="900"/>
              </a:spcAft>
              <a:defRPr sz="1600">
                <a:solidFill>
                  <a:srgbClr val="1C2738"/>
                </a:solidFill>
                <a:latin typeface="Microsoft YaHei"/>
              </a:defRPr>
            </a:pPr>
            <a:r>
              <a:t>•  在线写页与替换导致 P99 延迟翻倍</a:t>
            </a:r>
          </a:p>
          <a:p>
            <a:pPr>
              <a:spcAft>
                <a:spcPts val="900"/>
              </a:spcAft>
              <a:defRPr sz="1600">
                <a:solidFill>
                  <a:srgbClr val="1C2738"/>
                </a:solidFill>
                <a:latin typeface="Microsoft YaHei"/>
              </a:defRPr>
            </a:pPr>
            <a:r>
              <a:t>•  self-query 强调缓存适应性，不代表标准 ANN workload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5916168"/>
            <a:ext cx="10058400" cy="502920"/>
          </a:xfrm>
          <a:prstGeom prst="roundRect">
            <a:avLst/>
          </a:prstGeom>
          <a:solidFill>
            <a:srgbClr val="1C2738"/>
          </a:solidFill>
          <a:ln>
            <a:solidFill>
              <a:srgbClr val="1C27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6035040"/>
            <a:ext cx="971092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结论：MERIT 在变化的局部热点下提高平均吞吐，但下一步必须降低写路径尾延迟和额外内存。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
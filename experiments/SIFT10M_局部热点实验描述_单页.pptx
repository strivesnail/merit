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263548"/>
                </a:solidFill>
                <a:latin typeface="Microsoft YaHei"/>
              </a:rPr>
              <a:t>SIFT10M 局部热点切换实验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064240" cy="310896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目标：验证缓存能否在查询热点切换后快速学习，并减少后续磁盘访问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143000"/>
            <a:ext cx="11128248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417320"/>
            <a:ext cx="3703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3200400" cy="310896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63548"/>
                </a:solidFill>
                <a:latin typeface="Microsoft YaHei"/>
              </a:rPr>
              <a:t>实验设置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84831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数据集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63548"/>
                </a:solidFill>
                <a:latin typeface="Microsoft YaHei"/>
              </a:rPr>
              <a:t>SIFT10M · 10M基向量 · uint8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5176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查询负载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42616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63548"/>
                </a:solidFill>
                <a:latin typeface="Microsoft YaHei"/>
              </a:rPr>
              <a:t>10轮 × 100K查询，共1M查询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18688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热点变化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09544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63548"/>
                </a:solidFill>
                <a:latin typeface="Microsoft YaHei"/>
              </a:rPr>
              <a:t>每轮切换到不同的局部区域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785615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搜索参数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76472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63548"/>
                </a:solidFill>
                <a:latin typeface="Microsoft YaHei"/>
              </a:rPr>
              <a:t>16线程 · L=50 · Beamwidth=4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352544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icrosoft YaHei"/>
              </a:rPr>
              <a:t>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43400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263548"/>
                </a:solidFill>
                <a:latin typeface="Microsoft YaHei"/>
              </a:rPr>
              <a:t>三种方法 Recall@1 均为99.99%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444752"/>
            <a:ext cx="7132320" cy="310896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63548"/>
                </a:solidFill>
                <a:latin typeface="Microsoft YaHei"/>
              </a:rPr>
              <a:t>对比方法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1901952"/>
            <a:ext cx="7150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901952"/>
            <a:ext cx="91440" cy="7132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1456" y="2011680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Microsoft YaHei"/>
              </a:rPr>
              <a:t>DiskANN 无缓存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993392"/>
            <a:ext cx="4892040" cy="41148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63548"/>
                </a:solidFill>
                <a:latin typeface="Microsoft YaHei"/>
              </a:rPr>
              <a:t>不预载图节点；所有缺失节点直接读取基础索引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761488"/>
            <a:ext cx="7150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2761488"/>
            <a:ext cx="91440" cy="713232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2871216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774AE"/>
                </a:solidFill>
                <a:latin typeface="Microsoft YaHei"/>
              </a:rPr>
              <a:t>DiskANN BFS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852928"/>
            <a:ext cx="4892040" cy="41148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63548"/>
                </a:solidFill>
                <a:latin typeface="Microsoft YaHei"/>
              </a:rPr>
              <a:t>围绕medoid固定缓存181,238个节点；运行期间不更新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621024"/>
            <a:ext cx="71506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3621024"/>
            <a:ext cx="91440" cy="713232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3730752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E4572E"/>
                </a:solidFill>
                <a:latin typeface="Microsoft YaHei"/>
              </a:rPr>
              <a:t>MERIT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712463"/>
            <a:ext cx="4892040" cy="41148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63548"/>
                </a:solidFill>
                <a:latin typeface="Microsoft YaHei"/>
              </a:rPr>
              <a:t>n-cache保存节点，m-cache记录热度，d-cache动态组织4KB热点页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526280"/>
            <a:ext cx="7150608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4681728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63548"/>
                </a:solidFill>
                <a:latin typeface="Microsoft YaHei"/>
              </a:rPr>
              <a:t>统计方式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626864"/>
            <a:ext cx="5504688" cy="438912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263548"/>
                </a:solidFill>
                <a:latin typeface="Microsoft YaHei"/>
              </a:rPr>
              <a:t>每连续10K查询形成一个点；虚线表示round边界</a:t>
            </a:r>
            <a:br/>
            <a:r>
              <a:rPr sz="1100" b="0">
                <a:solidFill>
                  <a:srgbClr val="263548"/>
                </a:solidFill>
                <a:latin typeface="Microsoft YaHei"/>
              </a:rPr>
              <a:t>主要指标：Disk reads / query　辅助指标：QPS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325880" cy="228600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263548"/>
                </a:solidFill>
                <a:latin typeface="Microsoft YaHei"/>
              </a:rPr>
              <a:t>执行流程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4572E"/>
                </a:solidFill>
                <a:latin typeface="Microsoft YaHei"/>
              </a:rPr>
              <a:t>R1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00807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00807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6856B"/>
                </a:solidFill>
                <a:latin typeface="Microsoft YaHei"/>
              </a:rPr>
              <a:t>R2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72814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72814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774AE"/>
                </a:solidFill>
                <a:latin typeface="Microsoft YaHei"/>
              </a:rPr>
              <a:t>R3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44821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44821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6856B"/>
                </a:solidFill>
                <a:latin typeface="Microsoft YaHei"/>
              </a:rPr>
              <a:t>R4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16828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6828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774AE"/>
                </a:solidFill>
                <a:latin typeface="Microsoft YaHei"/>
              </a:rPr>
              <a:t>R5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88836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8836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6856B"/>
                </a:solidFill>
                <a:latin typeface="Microsoft YaHei"/>
              </a:rPr>
              <a:t>R6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0843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60843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774AE"/>
                </a:solidFill>
                <a:latin typeface="Microsoft YaHei"/>
              </a:rPr>
              <a:t>R7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32850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32850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6856B"/>
                </a:solidFill>
                <a:latin typeface="Microsoft YaHei"/>
              </a:rPr>
              <a:t>R8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4857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4857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774AE"/>
                </a:solidFill>
                <a:latin typeface="Microsoft YaHei"/>
              </a:rPr>
              <a:t>R9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76864" y="5596128"/>
            <a:ext cx="8988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76864" y="5687568"/>
            <a:ext cx="8988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6856B"/>
                </a:solidFill>
                <a:latin typeface="Microsoft YaHei"/>
              </a:rPr>
              <a:t>R10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37943" y="6108192"/>
            <a:ext cx="9601200" cy="256032"/>
          </a:xfrm>
          <a:prstGeom prst="rect">
            <a:avLst/>
          </a:prstGeom>
          <a:noFill/>
        </p:spPr>
        <p:txBody>
          <a:bodyPr wrap="non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新热点 → 每10K统计 → 观察适应过程 → 下一轮切换热点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
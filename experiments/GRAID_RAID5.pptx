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11338560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GRAID RAID5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21792"/>
            <a:ext cx="113385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600" b="0">
                <a:solidFill>
                  <a:srgbClr val="9FB3C8"/>
                </a:solidFill>
                <a:latin typeface="Calibri"/>
              </a:rPr>
              <a:t>Setup + fio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371600"/>
            <a:ext cx="11365992" cy="15727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44752"/>
            <a:ext cx="1371600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400" b="1">
                <a:solidFill>
                  <a:srgbClr val="486581"/>
                </a:solidFill>
                <a:latin typeface="Calibri"/>
              </a:rPr>
              <a:t>Host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1444752"/>
            <a:ext cx="9418320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800" b="0">
                <a:solidFill>
                  <a:srgbClr val="102A43"/>
                </a:solidFill>
                <a:latin typeface="Calibri"/>
              </a:rPr>
              <a:t>Threadripper 7960X  ·  2× RTX PRO 5000  ·  GRAID AE 2.0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920240"/>
            <a:ext cx="1371600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400" b="1">
                <a:solidFill>
                  <a:srgbClr val="486581"/>
                </a:solidFill>
                <a:latin typeface="Calibri"/>
              </a:rPr>
              <a:t>Storage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1920240"/>
            <a:ext cx="9418320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800" b="0">
                <a:solidFill>
                  <a:srgbClr val="102A43"/>
                </a:solidFill>
                <a:latin typeface="Calibri"/>
              </a:rPr>
              <a:t>5× 990 PRO 1TB, RAID5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395728"/>
            <a:ext cx="1371600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400" b="1">
                <a:solidFill>
                  <a:srgbClr val="486581"/>
                </a:solidFill>
                <a:latin typeface="Calibri"/>
              </a:rPr>
              <a:t>Compare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2395728"/>
            <a:ext cx="9418320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800" b="0">
                <a:solidFill>
                  <a:srgbClr val="102A43"/>
                </a:solidFill>
                <a:latin typeface="Calibri"/>
              </a:rPr>
              <a:t>Same disks, GRAID vs Linux mdadm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411480" y="3200400"/>
          <a:ext cx="11365992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2752344"/>
                <a:gridCol w="2752344"/>
                <a:gridCol w="2752344"/>
              </a:tblGrid>
              <a:tr h="621792">
                <a:tc>
                  <a:txBody>
                    <a:bodyPr wrap="non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109728" marR="109728" marT="54864" marB="54864">
                    <a:solidFill>
                      <a:srgbClr val="102A43"/>
                    </a:solidFill>
                    <a:lnL w="6350">
                      <a:solidFill>
                        <a:srgbClr val="102A43"/>
                      </a:solidFill>
                      <a:prstDash val="solid"/>
                    </a:lnL>
                    <a:lnR w="6350">
                      <a:solidFill>
                        <a:srgbClr val="102A43"/>
                      </a:solidFill>
                      <a:prstDash val="solid"/>
                    </a:lnR>
                    <a:lnT w="6350">
                      <a:solidFill>
                        <a:srgbClr val="102A43"/>
                      </a:solidFill>
                      <a:prstDash val="solid"/>
                    </a:lnT>
                    <a:lnB w="6350">
                      <a:solidFill>
                        <a:srgbClr val="102A43"/>
                      </a:solidFill>
                      <a:prstDash val="solid"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GRAID</a:t>
                      </a:r>
                    </a:p>
                  </a:txBody>
                  <a:tcPr anchor="ctr" marL="109728" marR="109728" marT="54864" marB="54864">
                    <a:solidFill>
                      <a:srgbClr val="102A43"/>
                    </a:solidFill>
                    <a:lnL w="6350">
                      <a:solidFill>
                        <a:srgbClr val="102A43"/>
                      </a:solidFill>
                      <a:prstDash val="solid"/>
                    </a:lnL>
                    <a:lnR w="6350">
                      <a:solidFill>
                        <a:srgbClr val="102A43"/>
                      </a:solidFill>
                      <a:prstDash val="solid"/>
                    </a:lnR>
                    <a:lnT w="6350">
                      <a:solidFill>
                        <a:srgbClr val="102A43"/>
                      </a:solidFill>
                      <a:prstDash val="solid"/>
                    </a:lnT>
                    <a:lnB w="6350">
                      <a:solidFill>
                        <a:srgbClr val="102A43"/>
                      </a:solidFill>
                      <a:prstDash val="solid"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mdadm</a:t>
                      </a:r>
                    </a:p>
                  </a:txBody>
                  <a:tcPr anchor="ctr" marL="109728" marR="109728" marT="54864" marB="54864">
                    <a:solidFill>
                      <a:srgbClr val="102A43"/>
                    </a:solidFill>
                    <a:lnL w="6350">
                      <a:solidFill>
                        <a:srgbClr val="102A43"/>
                      </a:solidFill>
                      <a:prstDash val="solid"/>
                    </a:lnL>
                    <a:lnR w="6350">
                      <a:solidFill>
                        <a:srgbClr val="102A43"/>
                      </a:solidFill>
                      <a:prstDash val="solid"/>
                    </a:lnR>
                    <a:lnT w="6350">
                      <a:solidFill>
                        <a:srgbClr val="102A43"/>
                      </a:solidFill>
                      <a:prstDash val="solid"/>
                    </a:lnT>
                    <a:lnB w="6350">
                      <a:solidFill>
                        <a:srgbClr val="102A43"/>
                      </a:solidFill>
                      <a:prstDash val="solid"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vs mdadm</a:t>
                      </a:r>
                    </a:p>
                  </a:txBody>
                  <a:tcPr anchor="ctr" marL="109728" marR="109728" marT="54864" marB="54864">
                    <a:solidFill>
                      <a:srgbClr val="102A43"/>
                    </a:solidFill>
                    <a:lnL w="6350">
                      <a:solidFill>
                        <a:srgbClr val="102A43"/>
                      </a:solidFill>
                      <a:prstDash val="solid"/>
                    </a:lnL>
                    <a:lnR w="6350">
                      <a:solidFill>
                        <a:srgbClr val="102A43"/>
                      </a:solidFill>
                      <a:prstDash val="solid"/>
                    </a:lnR>
                    <a:lnT w="6350">
                      <a:solidFill>
                        <a:srgbClr val="102A43"/>
                      </a:solidFill>
                      <a:prstDash val="solid"/>
                    </a:lnT>
                    <a:lnB w="6350">
                      <a:solidFill>
                        <a:srgbClr val="102A43"/>
                      </a:solidFill>
                      <a:prstDash val="solid"/>
                    </a:lnB>
                  </a:tcPr>
                </a:tc>
              </a:tr>
              <a:tr h="621792">
                <a:tc>
                  <a:txBody>
                    <a:bodyPr wrap="none"/>
                    <a:lstStyle/>
                    <a:p>
                      <a:pPr algn="l"/>
                      <a:r>
                        <a:rPr sz="1800" b="1">
                          <a:solidFill>
                            <a:srgbClr val="102A43"/>
                          </a:solidFill>
                          <a:latin typeface="Calibri"/>
                        </a:rPr>
                        <a:t>Seq. write</a:t>
                      </a:r>
                    </a:p>
                  </a:txBody>
                  <a:tcPr anchor="ctr" marL="109728" marR="109728" marT="54864" marB="54864">
                    <a:solidFill>
                      <a:srgbClr val="F0F4F8"/>
                    </a:solidFill>
                    <a:lnL w="6350">
                      <a:solidFill>
                        <a:srgbClr val="D9E2EC"/>
                      </a:solidFill>
                      <a:prstDash val="solid"/>
                    </a:lnL>
                    <a:lnR w="6350">
                      <a:solidFill>
                        <a:srgbClr val="D9E2EC"/>
                      </a:solidFill>
                      <a:prstDash val="solid"/>
                    </a:lnR>
                    <a:lnT w="6350">
                      <a:solidFill>
                        <a:srgbClr val="D9E2EC"/>
                      </a:solidFill>
                      <a:prstDash val="solid"/>
                    </a:lnT>
                    <a:lnB w="6350">
                      <a:solidFill>
                        <a:srgbClr val="D9E2EC"/>
                      </a:solidFill>
                      <a:prstDash val="solid"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800" b="0">
                          <a:solidFill>
                            <a:srgbClr val="102A43"/>
                          </a:solidFill>
                          <a:latin typeface="Calibri"/>
                        </a:rPr>
                        <a:t>23.3 GiB/s</a:t>
                      </a:r>
                    </a:p>
                  </a:txBody>
                  <a:tcPr anchor="ctr" marL="109728" marR="109728" marT="54864" marB="54864">
                    <a:solidFill>
                      <a:srgbClr val="F0F4F8"/>
                    </a:solidFill>
                    <a:lnL w="6350">
                      <a:solidFill>
                        <a:srgbClr val="D9E2EC"/>
                      </a:solidFill>
                      <a:prstDash val="solid"/>
                    </a:lnL>
                    <a:lnR w="6350">
                      <a:solidFill>
                        <a:srgbClr val="D9E2EC"/>
                      </a:solidFill>
                      <a:prstDash val="solid"/>
                    </a:lnR>
                    <a:lnT w="6350">
                      <a:solidFill>
                        <a:srgbClr val="D9E2EC"/>
                      </a:solidFill>
                      <a:prstDash val="solid"/>
                    </a:lnT>
                    <a:lnB w="6350">
                      <a:solidFill>
                        <a:srgbClr val="D9E2EC"/>
                      </a:solidFill>
                      <a:prstDash val="solid"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800" b="0">
                          <a:solidFill>
                            <a:srgbClr val="102A43"/>
                          </a:solidFill>
                          <a:latin typeface="Calibri"/>
                        </a:rPr>
                        <a:t>2.3 GiB/s</a:t>
                      </a:r>
                    </a:p>
                  </a:txBody>
                  <a:tcPr anchor="ctr" marL="109728" marR="109728" marT="54864" marB="54864">
                    <a:solidFill>
                      <a:srgbClr val="F0F4F8"/>
                    </a:solidFill>
                    <a:lnL w="6350">
                      <a:solidFill>
                        <a:srgbClr val="D9E2EC"/>
                      </a:solidFill>
                      <a:prstDash val="solid"/>
                    </a:lnL>
                    <a:lnR w="6350">
                      <a:solidFill>
                        <a:srgbClr val="D9E2EC"/>
                      </a:solidFill>
                      <a:prstDash val="solid"/>
                    </a:lnR>
                    <a:lnT w="6350">
                      <a:solidFill>
                        <a:srgbClr val="D9E2EC"/>
                      </a:solidFill>
                      <a:prstDash val="solid"/>
                    </a:lnT>
                    <a:lnB w="6350">
                      <a:solidFill>
                        <a:srgbClr val="D9E2EC"/>
                      </a:solidFill>
                      <a:prstDash val="solid"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800" b="1">
                          <a:solidFill>
                            <a:srgbClr val="147D64"/>
                          </a:solidFill>
                          <a:latin typeface="Calibri"/>
                        </a:rPr>
                        <a:t>10×</a:t>
                      </a:r>
                    </a:p>
                  </a:txBody>
                  <a:tcPr anchor="ctr" marL="109728" marR="109728" marT="54864" marB="54864">
                    <a:solidFill>
                      <a:srgbClr val="F0F4F8"/>
                    </a:solidFill>
                    <a:lnL w="6350">
                      <a:solidFill>
                        <a:srgbClr val="D9E2EC"/>
                      </a:solidFill>
                      <a:prstDash val="solid"/>
                    </a:lnL>
                    <a:lnR w="6350">
                      <a:solidFill>
                        <a:srgbClr val="D9E2EC"/>
                      </a:solidFill>
                      <a:prstDash val="solid"/>
                    </a:lnR>
                    <a:lnT w="6350">
                      <a:solidFill>
                        <a:srgbClr val="D9E2EC"/>
                      </a:solidFill>
                      <a:prstDash val="solid"/>
                    </a:lnT>
                    <a:lnB w="6350">
                      <a:solidFill>
                        <a:srgbClr val="D9E2EC"/>
                      </a:solidFill>
                      <a:prstDash val="solid"/>
                    </a:lnB>
                  </a:tcPr>
                </a:tc>
              </a:tr>
              <a:tr h="621792">
                <a:tc>
                  <a:txBody>
                    <a:bodyPr wrap="none"/>
                    <a:lstStyle/>
                    <a:p>
                      <a:pPr algn="l"/>
                      <a:r>
                        <a:rPr sz="1800" b="1">
                          <a:solidFill>
                            <a:srgbClr val="102A43"/>
                          </a:solidFill>
                          <a:latin typeface="Calibri"/>
                        </a:rPr>
                        <a:t>Seq. read</a:t>
                      </a:r>
                    </a:p>
                  </a:txBody>
                  <a:tcPr anchor="ctr" marL="109728" marR="109728" marT="54864" marB="54864">
                    <a:solidFill>
                      <a:srgbClr val="FFFFFF"/>
                    </a:solidFill>
                    <a:lnL w="6350">
                      <a:solidFill>
                        <a:srgbClr val="D9E2EC"/>
                      </a:solidFill>
                      <a:prstDash val="solid"/>
                    </a:lnL>
                    <a:lnR w="6350">
                      <a:solidFill>
                        <a:srgbClr val="D9E2EC"/>
                      </a:solidFill>
                      <a:prstDash val="solid"/>
                    </a:lnR>
                    <a:lnT w="6350">
                      <a:solidFill>
                        <a:srgbClr val="D9E2EC"/>
                      </a:solidFill>
                      <a:prstDash val="solid"/>
                    </a:lnT>
                    <a:lnB w="6350">
                      <a:solidFill>
                        <a:srgbClr val="D9E2EC"/>
                      </a:solidFill>
                      <a:prstDash val="solid"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800" b="0">
                          <a:solidFill>
                            <a:srgbClr val="102A43"/>
                          </a:solidFill>
                          <a:latin typeface="Calibri"/>
                        </a:rPr>
                        <a:t>15.2 GiB/s</a:t>
                      </a:r>
                    </a:p>
                  </a:txBody>
                  <a:tcPr anchor="ctr" marL="109728" marR="109728" marT="54864" marB="54864">
                    <a:solidFill>
                      <a:srgbClr val="FFFFFF"/>
                    </a:solidFill>
                    <a:lnL w="6350">
                      <a:solidFill>
                        <a:srgbClr val="D9E2EC"/>
                      </a:solidFill>
                      <a:prstDash val="solid"/>
                    </a:lnL>
                    <a:lnR w="6350">
                      <a:solidFill>
                        <a:srgbClr val="D9E2EC"/>
                      </a:solidFill>
                      <a:prstDash val="solid"/>
                    </a:lnR>
                    <a:lnT w="6350">
                      <a:solidFill>
                        <a:srgbClr val="D9E2EC"/>
                      </a:solidFill>
                      <a:prstDash val="solid"/>
                    </a:lnT>
                    <a:lnB w="6350">
                      <a:solidFill>
                        <a:srgbClr val="D9E2EC"/>
                      </a:solidFill>
                      <a:prstDash val="solid"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800" b="0">
                          <a:solidFill>
                            <a:srgbClr val="102A43"/>
                          </a:solidFill>
                          <a:latin typeface="Calibri"/>
                        </a:rPr>
                        <a:t>27.1 GiB/s</a:t>
                      </a:r>
                    </a:p>
                  </a:txBody>
                  <a:tcPr anchor="ctr" marL="109728" marR="109728" marT="54864" marB="54864">
                    <a:solidFill>
                      <a:srgbClr val="FFFFFF"/>
                    </a:solidFill>
                    <a:lnL w="6350">
                      <a:solidFill>
                        <a:srgbClr val="D9E2EC"/>
                      </a:solidFill>
                      <a:prstDash val="solid"/>
                    </a:lnL>
                    <a:lnR w="6350">
                      <a:solidFill>
                        <a:srgbClr val="D9E2EC"/>
                      </a:solidFill>
                      <a:prstDash val="solid"/>
                    </a:lnR>
                    <a:lnT w="6350">
                      <a:solidFill>
                        <a:srgbClr val="D9E2EC"/>
                      </a:solidFill>
                      <a:prstDash val="solid"/>
                    </a:lnT>
                    <a:lnB w="6350">
                      <a:solidFill>
                        <a:srgbClr val="D9E2EC"/>
                      </a:solidFill>
                      <a:prstDash val="solid"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800" b="1">
                          <a:solidFill>
                            <a:srgbClr val="9B2C2C"/>
                          </a:solidFill>
                          <a:latin typeface="Calibri"/>
                        </a:rPr>
                        <a:t>0.56×</a:t>
                      </a:r>
                    </a:p>
                  </a:txBody>
                  <a:tcPr anchor="ctr" marL="109728" marR="109728" marT="54864" marB="54864">
                    <a:solidFill>
                      <a:srgbClr val="FFFFFF"/>
                    </a:solidFill>
                    <a:lnL w="6350">
                      <a:solidFill>
                        <a:srgbClr val="D9E2EC"/>
                      </a:solidFill>
                      <a:prstDash val="solid"/>
                    </a:lnL>
                    <a:lnR w="6350">
                      <a:solidFill>
                        <a:srgbClr val="D9E2EC"/>
                      </a:solidFill>
                      <a:prstDash val="solid"/>
                    </a:lnR>
                    <a:lnT w="6350">
                      <a:solidFill>
                        <a:srgbClr val="D9E2EC"/>
                      </a:solidFill>
                      <a:prstDash val="solid"/>
                    </a:lnT>
                    <a:lnB w="6350">
                      <a:solidFill>
                        <a:srgbClr val="D9E2EC"/>
                      </a:solidFill>
                      <a:prstDash val="solid"/>
                    </a:lnB>
                  </a:tcPr>
                </a:tc>
              </a:tr>
              <a:tr h="621792">
                <a:tc>
                  <a:txBody>
                    <a:bodyPr wrap="none"/>
                    <a:lstStyle/>
                    <a:p>
                      <a:pPr algn="l"/>
                      <a:r>
                        <a:rPr sz="1800" b="1">
                          <a:solidFill>
                            <a:srgbClr val="102A43"/>
                          </a:solidFill>
                          <a:latin typeface="Calibri"/>
                        </a:rPr>
                        <a:t>Rand. read</a:t>
                      </a:r>
                    </a:p>
                  </a:txBody>
                  <a:tcPr anchor="ctr" marL="109728" marR="109728" marT="54864" marB="54864">
                    <a:solidFill>
                      <a:srgbClr val="F0F4F8"/>
                    </a:solidFill>
                    <a:lnL w="6350">
                      <a:solidFill>
                        <a:srgbClr val="D9E2EC"/>
                      </a:solidFill>
                      <a:prstDash val="solid"/>
                    </a:lnL>
                    <a:lnR w="6350">
                      <a:solidFill>
                        <a:srgbClr val="D9E2EC"/>
                      </a:solidFill>
                      <a:prstDash val="solid"/>
                    </a:lnR>
                    <a:lnT w="6350">
                      <a:solidFill>
                        <a:srgbClr val="D9E2EC"/>
                      </a:solidFill>
                      <a:prstDash val="solid"/>
                    </a:lnT>
                    <a:lnB w="6350">
                      <a:solidFill>
                        <a:srgbClr val="D9E2EC"/>
                      </a:solidFill>
                      <a:prstDash val="solid"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800" b="0">
                          <a:solidFill>
                            <a:srgbClr val="102A43"/>
                          </a:solidFill>
                          <a:latin typeface="Calibri"/>
                        </a:rPr>
                        <a:t>2.1M IOPS</a:t>
                      </a:r>
                    </a:p>
                  </a:txBody>
                  <a:tcPr anchor="ctr" marL="109728" marR="109728" marT="54864" marB="54864">
                    <a:solidFill>
                      <a:srgbClr val="F0F4F8"/>
                    </a:solidFill>
                    <a:lnL w="6350">
                      <a:solidFill>
                        <a:srgbClr val="D9E2EC"/>
                      </a:solidFill>
                      <a:prstDash val="solid"/>
                    </a:lnL>
                    <a:lnR w="6350">
                      <a:solidFill>
                        <a:srgbClr val="D9E2EC"/>
                      </a:solidFill>
                      <a:prstDash val="solid"/>
                    </a:lnR>
                    <a:lnT w="6350">
                      <a:solidFill>
                        <a:srgbClr val="D9E2EC"/>
                      </a:solidFill>
                      <a:prstDash val="solid"/>
                    </a:lnT>
                    <a:lnB w="6350">
                      <a:solidFill>
                        <a:srgbClr val="D9E2EC"/>
                      </a:solidFill>
                      <a:prstDash val="solid"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800" b="0">
                          <a:solidFill>
                            <a:srgbClr val="102A43"/>
                          </a:solidFill>
                          <a:latin typeface="Calibri"/>
                        </a:rPr>
                        <a:t>3.4M IOPS</a:t>
                      </a:r>
                    </a:p>
                  </a:txBody>
                  <a:tcPr anchor="ctr" marL="109728" marR="109728" marT="54864" marB="54864">
                    <a:solidFill>
                      <a:srgbClr val="F0F4F8"/>
                    </a:solidFill>
                    <a:lnL w="6350">
                      <a:solidFill>
                        <a:srgbClr val="D9E2EC"/>
                      </a:solidFill>
                      <a:prstDash val="solid"/>
                    </a:lnL>
                    <a:lnR w="6350">
                      <a:solidFill>
                        <a:srgbClr val="D9E2EC"/>
                      </a:solidFill>
                      <a:prstDash val="solid"/>
                    </a:lnR>
                    <a:lnT w="6350">
                      <a:solidFill>
                        <a:srgbClr val="D9E2EC"/>
                      </a:solidFill>
                      <a:prstDash val="solid"/>
                    </a:lnT>
                    <a:lnB w="6350">
                      <a:solidFill>
                        <a:srgbClr val="D9E2EC"/>
                      </a:solidFill>
                      <a:prstDash val="solid"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800" b="1">
                          <a:solidFill>
                            <a:srgbClr val="9B2C2C"/>
                          </a:solidFill>
                          <a:latin typeface="Calibri"/>
                        </a:rPr>
                        <a:t>0.61×</a:t>
                      </a:r>
                    </a:p>
                  </a:txBody>
                  <a:tcPr anchor="ctr" marL="109728" marR="109728" marT="54864" marB="54864">
                    <a:solidFill>
                      <a:srgbClr val="F0F4F8"/>
                    </a:solidFill>
                    <a:lnL w="6350">
                      <a:solidFill>
                        <a:srgbClr val="D9E2EC"/>
                      </a:solidFill>
                      <a:prstDash val="solid"/>
                    </a:lnL>
                    <a:lnR w="6350">
                      <a:solidFill>
                        <a:srgbClr val="D9E2EC"/>
                      </a:solidFill>
                      <a:prstDash val="solid"/>
                    </a:lnR>
                    <a:lnT w="6350">
                      <a:solidFill>
                        <a:srgbClr val="D9E2EC"/>
                      </a:solidFill>
                      <a:prstDash val="solid"/>
                    </a:lnT>
                    <a:lnB w="6350">
                      <a:solidFill>
                        <a:srgbClr val="D9E2EC"/>
                      </a:solidFill>
                      <a:prstDash val="solid"/>
                    </a:lnB>
                  </a:tcPr>
                </a:tc>
              </a:tr>
              <a:tr h="621792">
                <a:tc>
                  <a:txBody>
                    <a:bodyPr wrap="none"/>
                    <a:lstStyle/>
                    <a:p>
                      <a:pPr algn="l"/>
                      <a:r>
                        <a:rPr sz="1800" b="1">
                          <a:solidFill>
                            <a:srgbClr val="102A43"/>
                          </a:solidFill>
                          <a:latin typeface="Calibri"/>
                        </a:rPr>
                        <a:t>Rand. write</a:t>
                      </a:r>
                    </a:p>
                  </a:txBody>
                  <a:tcPr anchor="ctr" marL="109728" marR="109728" marT="54864" marB="54864">
                    <a:solidFill>
                      <a:srgbClr val="FFFFFF"/>
                    </a:solidFill>
                    <a:lnL w="6350">
                      <a:solidFill>
                        <a:srgbClr val="D9E2EC"/>
                      </a:solidFill>
                      <a:prstDash val="solid"/>
                    </a:lnL>
                    <a:lnR w="6350">
                      <a:solidFill>
                        <a:srgbClr val="D9E2EC"/>
                      </a:solidFill>
                      <a:prstDash val="solid"/>
                    </a:lnR>
                    <a:lnT w="6350">
                      <a:solidFill>
                        <a:srgbClr val="D9E2EC"/>
                      </a:solidFill>
                      <a:prstDash val="solid"/>
                    </a:lnT>
                    <a:lnB w="6350">
                      <a:solidFill>
                        <a:srgbClr val="D9E2EC"/>
                      </a:solidFill>
                      <a:prstDash val="solid"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800" b="0">
                          <a:solidFill>
                            <a:srgbClr val="102A43"/>
                          </a:solidFill>
                          <a:latin typeface="Calibri"/>
                        </a:rPr>
                        <a:t>853k IOPS</a:t>
                      </a:r>
                    </a:p>
                  </a:txBody>
                  <a:tcPr anchor="ctr" marL="109728" marR="109728" marT="54864" marB="54864">
                    <a:solidFill>
                      <a:srgbClr val="FFFFFF"/>
                    </a:solidFill>
                    <a:lnL w="6350">
                      <a:solidFill>
                        <a:srgbClr val="D9E2EC"/>
                      </a:solidFill>
                      <a:prstDash val="solid"/>
                    </a:lnL>
                    <a:lnR w="6350">
                      <a:solidFill>
                        <a:srgbClr val="D9E2EC"/>
                      </a:solidFill>
                      <a:prstDash val="solid"/>
                    </a:lnR>
                    <a:lnT w="6350">
                      <a:solidFill>
                        <a:srgbClr val="D9E2EC"/>
                      </a:solidFill>
                      <a:prstDash val="solid"/>
                    </a:lnT>
                    <a:lnB w="6350">
                      <a:solidFill>
                        <a:srgbClr val="D9E2EC"/>
                      </a:solidFill>
                      <a:prstDash val="solid"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800" b="0">
                          <a:solidFill>
                            <a:srgbClr val="102A43"/>
                          </a:solidFill>
                          <a:latin typeface="Calibri"/>
                        </a:rPr>
                        <a:t>113k IOPS</a:t>
                      </a:r>
                    </a:p>
                  </a:txBody>
                  <a:tcPr anchor="ctr" marL="109728" marR="109728" marT="54864" marB="54864">
                    <a:solidFill>
                      <a:srgbClr val="FFFFFF"/>
                    </a:solidFill>
                    <a:lnL w="6350">
                      <a:solidFill>
                        <a:srgbClr val="D9E2EC"/>
                      </a:solidFill>
                      <a:prstDash val="solid"/>
                    </a:lnL>
                    <a:lnR w="6350">
                      <a:solidFill>
                        <a:srgbClr val="D9E2EC"/>
                      </a:solidFill>
                      <a:prstDash val="solid"/>
                    </a:lnR>
                    <a:lnT w="6350">
                      <a:solidFill>
                        <a:srgbClr val="D9E2EC"/>
                      </a:solidFill>
                      <a:prstDash val="solid"/>
                    </a:lnT>
                    <a:lnB w="6350">
                      <a:solidFill>
                        <a:srgbClr val="D9E2EC"/>
                      </a:solidFill>
                      <a:prstDash val="solid"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800" b="1">
                          <a:solidFill>
                            <a:srgbClr val="147D64"/>
                          </a:solidFill>
                          <a:latin typeface="Calibri"/>
                        </a:rPr>
                        <a:t>7.5×</a:t>
                      </a:r>
                    </a:p>
                  </a:txBody>
                  <a:tcPr anchor="ctr" marL="109728" marR="109728" marT="54864" marB="54864">
                    <a:solidFill>
                      <a:srgbClr val="FFFFFF"/>
                    </a:solidFill>
                    <a:lnL w="6350">
                      <a:solidFill>
                        <a:srgbClr val="D9E2EC"/>
                      </a:solidFill>
                      <a:prstDash val="solid"/>
                    </a:lnL>
                    <a:lnR w="6350">
                      <a:solidFill>
                        <a:srgbClr val="D9E2EC"/>
                      </a:solidFill>
                      <a:prstDash val="solid"/>
                    </a:lnR>
                    <a:lnT w="6350">
                      <a:solidFill>
                        <a:srgbClr val="D9E2EC"/>
                      </a:solidFill>
                      <a:prstDash val="solid"/>
                    </a:lnT>
                    <a:lnB w="6350">
                      <a:solidFill>
                        <a:srgbClr val="D9E2EC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4" name="Rectangle 1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6510528"/>
            <a:ext cx="113385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200" b="0">
                <a:solidFill>
                  <a:srgbClr val="9FB3C8"/>
                </a:solidFill>
                <a:latin typeface="Calibri"/>
              </a:rPr>
              <a:t>5× Samsung 990 PRO  ·  RAID5  ·  GRAID vs mdadm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
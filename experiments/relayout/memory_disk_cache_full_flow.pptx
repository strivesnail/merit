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  Workload-aware 两级缓存：完整流程总览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11521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55A64"/>
                </a:solidFill>
                <a:latin typeface="Microsoft YaHei"/>
                <a:ea typeface="Microsoft YaHei"/>
              </a:rPr>
              <a:t>不改写 Base _disk.index ｜ Memory Cache + Disk Cache + Base 三级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2651760" cy="457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① 构建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83080"/>
            <a:ext cx="2651760" cy="16916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337"/>
                </a:solidFill>
                <a:latin typeface="Microsoft YaHei"/>
                <a:ea typeface="Microsoft YaHei"/>
              </a:rPr>
              <a:t>建 DiskANN 盘索引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PQ 进内存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主图布局固定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63240" y="2423160"/>
            <a:ext cx="457200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46120" y="1234440"/>
            <a:ext cx="2651760" cy="457200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② 构建缓存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783080"/>
            <a:ext cx="2651760" cy="169164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337"/>
                </a:solidFill>
                <a:latin typeface="Microsoft YaHei"/>
                <a:ea typeface="Microsoft YaHei"/>
              </a:rPr>
              <a:t>真实 Query 统计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Top-M → Memory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Next-D → Disk Cache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3600" y="2423160"/>
            <a:ext cx="457200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1234440"/>
            <a:ext cx="265176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③ 在线搜索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83080"/>
            <a:ext cx="2651760" cy="169164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337"/>
                </a:solidFill>
                <a:latin typeface="Microsoft YaHei"/>
                <a:ea typeface="Microsoft YaHei"/>
              </a:rPr>
              <a:t>三级 lookup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Memory → DiskCache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→ Base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23960" y="2423160"/>
            <a:ext cx="457200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06840" y="1234440"/>
            <a:ext cx="2651760" cy="45720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④ 定时更新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783080"/>
            <a:ext cx="2651760" cy="1691640"/>
          </a:xfrm>
          <a:prstGeom prst="roundRect">
            <a:avLst/>
          </a:prstGeom>
          <a:solidFill>
            <a:srgbClr val="B2DFDB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337"/>
                </a:solidFill>
                <a:latin typeface="Microsoft YaHei"/>
                <a:ea typeface="Microsoft YaHei"/>
              </a:rPr>
              <a:t>累计计数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批量重 profile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重建 M/D 并切换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11430000" cy="1325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A2337"/>
                </a:solidFill>
                <a:latin typeface="Microsoft YaHei"/>
                <a:ea typeface="Microsoft YaHei"/>
              </a:rPr>
              <a:t>核心原则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节点计数 H(v) → 决定缓存对象（进 Memory / Disk Cache / Base 哪一层）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边计数 / EdgeAccessSet → 决定 Disk Cache 页内共置布局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主图 _disk.index 永不重排；Disk Cache 是独立文件，可单独重建与切换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303520"/>
            <a:ext cx="3657600" cy="11430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DRAM 常驻（非 cache）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全量 PQ + pivots + medoid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5303520"/>
            <a:ext cx="3657600" cy="1143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DRAM Memory Cache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最热 M 节点：向量 + 邻接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5303520"/>
            <a:ext cx="3749039" cy="114300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SSD：Disk Cache + Base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次热共置页 / 冷节点原盘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  ① 构建阶段 A：DiskANN Base 索引（主图不动）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11521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55A64"/>
                </a:solidFill>
                <a:latin typeface="Microsoft YaHei"/>
                <a:ea typeface="Microsoft YaHei"/>
              </a:rPr>
              <a:t>这一步与原生 DiskANN 相同；后续缓存都建立在它之上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286000" cy="19202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337"/>
                </a:solidFill>
                <a:latin typeface="Microsoft YaHei"/>
                <a:ea typeface="Microsoft YaHei"/>
              </a:rPr>
              <a:t>原始向量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Base / Query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2423160"/>
            <a:ext cx="594360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286000" cy="19202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337"/>
                </a:solidFill>
                <a:latin typeface="Microsoft YaHei"/>
                <a:ea typeface="Microsoft YaHei"/>
              </a:rPr>
              <a:t>build_disk_index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建 Vamana 图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写盘布局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49240" y="2423160"/>
            <a:ext cx="594360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0" y="1645920"/>
            <a:ext cx="2286000" cy="1920240"/>
          </a:xfrm>
          <a:prstGeom prst="roundRect">
            <a:avLst/>
          </a:prstGeom>
          <a:solidFill>
            <a:srgbClr val="CFD8DC"/>
          </a:solidFill>
          <a:ln w="1905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337"/>
                </a:solidFill>
                <a:latin typeface="Microsoft YaHei"/>
                <a:ea typeface="Microsoft YaHei"/>
              </a:rPr>
              <a:t>产出文件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_disk.index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_pq_compressed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_pq_pivots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001000" y="2423160"/>
            <a:ext cx="594360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0" y="1645920"/>
            <a:ext cx="2286000" cy="1920240"/>
          </a:xfrm>
          <a:prstGeom prst="roundRect">
            <a:avLst/>
          </a:prstGeom>
          <a:solidFill>
            <a:srgbClr val="B2DFDB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337"/>
                </a:solidFill>
                <a:latin typeface="Microsoft YaHei"/>
                <a:ea typeface="Microsoft YaHei"/>
              </a:rPr>
              <a:t>Load 到服务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PQ 全量进 DRAM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打开盘索引</a:t>
            </a:r>
          </a:p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O_DIRECT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11247120" cy="2286000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A2337"/>
                </a:solidFill>
                <a:latin typeface="Microsoft YaHei"/>
                <a:ea typeface="Microsoft YaHei"/>
              </a:rPr>
              <a:t>关键约定（贯穿全程）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Base `_disk.index`：完整图 + 全精度向量，按原始物理布局落盘，之后不再重写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PQ 压缩向量常驻 DRAM：搜索导航用，不算 Memory Cache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读盘路径默认 O_DIRECT（绕过 OS page cache），保证实验可控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Memory / Disk Cache 是额外层：可整体替换，不影响主图正确性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  ② 构建阶段 B：Profiling → Memory Cache + Disk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11521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55A64"/>
                </a:solidFill>
                <a:latin typeface="Microsoft YaHei"/>
                <a:ea typeface="Microsoft YaHei"/>
              </a:rPr>
              <a:t>离线构建；节点热度选对象，边访问决定 Disk Cache 页布局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2377440" cy="9601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337"/>
                </a:solidFill>
                <a:latin typeface="Microsoft YaHei"/>
                <a:ea typeface="Microsoft YaHei"/>
              </a:rPr>
              <a:t>样本/真实 Query</a:t>
            </a:r>
          </a:p>
          <a:p>
            <a:pPr algn="ctr"/>
            <a:r>
              <a:rPr sz="1000" b="0">
                <a:solidFill>
                  <a:srgbClr val="1A2337"/>
                </a:solidFill>
                <a:latin typeface="Microsoft YaHei"/>
                <a:ea typeface="Microsoft YaHei"/>
              </a:rPr>
              <a:t>(代表线上 workload)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1463040"/>
            <a:ext cx="365760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143000"/>
            <a:ext cx="2743200" cy="96012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Beam Search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+ HotnessProfiler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89320" y="1463040"/>
            <a:ext cx="365760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143000"/>
            <a:ext cx="5303520" cy="96012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统计：H(v) 节点展开次数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C(u→v) / EdgeAccessSet（含 branch）</a:t>
            </a:r>
          </a:p>
        </p:txBody>
      </p:sp>
      <p:sp>
        <p:nvSpPr>
          <p:cNvPr id="9" name="Down Arrow 8"/>
          <p:cNvSpPr/>
          <p:nvPr/>
        </p:nvSpPr>
        <p:spPr>
          <a:xfrm>
            <a:off x="8759952" y="2148840"/>
            <a:ext cx="219456" cy="256032"/>
          </a:xfrm>
          <a:prstGeom prst="down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2514600"/>
            <a:ext cx="3657600" cy="178308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按 H(v) 排序分级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Top-M 最热 → Memory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Next-D 次热 → Disk Cache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其余 →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14600"/>
            <a:ext cx="3657600" cy="178308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Disk Cache 装箱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按 EdgeAccessSet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高频边两端共置同页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贪心填满 4KB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514600"/>
            <a:ext cx="3474720" cy="1783080"/>
          </a:xfrm>
          <a:prstGeom prst="roundRect">
            <a:avLst/>
          </a:prstGeom>
          <a:solidFill>
            <a:srgbClr val="CFD8DC"/>
          </a:solidFill>
          <a:ln w="1905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产出产物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node_directory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Memory cache list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.diskcache.data/.meta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084832" y="4343400"/>
            <a:ext cx="219456" cy="256032"/>
          </a:xfrm>
          <a:prstGeom prst="down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6016752" y="4343400"/>
            <a:ext cx="219456" cy="256032"/>
          </a:xfrm>
          <a:prstGeom prst="down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9857232" y="4343400"/>
            <a:ext cx="219456" cy="256032"/>
          </a:xfrm>
          <a:prstGeom prst="down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4663440"/>
            <a:ext cx="3657600" cy="16002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load_cache_list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填充 _nhood_cache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+_coord_cache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663440"/>
            <a:ext cx="3657600" cy="160020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写入独立 SSD 文件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不修改 _disk.index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663440"/>
            <a:ext cx="3474720" cy="1600200"/>
          </a:xfrm>
          <a:prstGeom prst="roundRect">
            <a:avLst/>
          </a:prstGeom>
          <a:solidFill>
            <a:srgbClr val="CFD8DC"/>
          </a:solidFill>
          <a:ln w="1905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点 → 层级 / page_id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搜索时 O(1) 查表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  ③ 在线搜索：一次 Query 的完整读路径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11521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55A64"/>
                </a:solidFill>
                <a:latin typeface="Microsoft YaHei"/>
                <a:ea typeface="Microsoft YaHei"/>
              </a:rPr>
              <a:t>cached_beam_search：导航仍靠 PQ；展开节点时走三级 lookup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097280"/>
            <a:ext cx="3017520" cy="5486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337"/>
                </a:solidFill>
                <a:latin typeface="Microsoft YaHei"/>
                <a:ea typeface="Microsoft YaHei"/>
              </a:rPr>
              <a:t>Query 输入</a:t>
            </a:r>
          </a:p>
        </p:txBody>
      </p:sp>
      <p:sp>
        <p:nvSpPr>
          <p:cNvPr id="5" name="Down Arrow 4"/>
          <p:cNvSpPr/>
          <p:nvPr/>
        </p:nvSpPr>
        <p:spPr>
          <a:xfrm>
            <a:off x="5879592" y="1691640"/>
            <a:ext cx="219456" cy="201168"/>
          </a:xfrm>
          <a:prstGeom prst="down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1920240"/>
            <a:ext cx="4480560" cy="6400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选最近 medoid → 初始化 retset（PQ，全在 DRAM）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79592" y="2606040"/>
            <a:ext cx="219456" cy="201168"/>
          </a:xfrm>
          <a:prstGeom prst="down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2834640"/>
            <a:ext cx="5029200" cy="59436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Beam 循环：取 closest_unexpanded 节点 v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79592" y="3474720"/>
            <a:ext cx="219456" cy="182880"/>
          </a:xfrm>
          <a:prstGeom prst="down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4663440" y="3657600"/>
            <a:ext cx="2834640" cy="1051560"/>
          </a:xfrm>
          <a:prstGeom prst="diamond">
            <a:avLst/>
          </a:prstGeom>
          <a:solidFill>
            <a:srgbClr val="FFF9C4"/>
          </a:solidFill>
          <a:ln w="1905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337"/>
                </a:solidFill>
                <a:latin typeface="Microsoft YaHei"/>
                <a:ea typeface="Microsoft YaHei"/>
              </a:rPr>
              <a:t>v 在哪一层？</a:t>
            </a:r>
          </a:p>
          <a:p>
            <a:pPr algn="ctr"/>
            <a:r>
              <a:rPr sz="1000" b="0">
                <a:solidFill>
                  <a:srgbClr val="1A2337"/>
                </a:solidFill>
                <a:latin typeface="Microsoft YaHei"/>
                <a:ea typeface="Microsoft YaHei"/>
              </a:rPr>
              <a:t>node_directory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4983480"/>
            <a:ext cx="3566160" cy="141732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MEMORY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用 _nhood/_coord_cache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零 disk I/O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983480"/>
            <a:ext cx="3566160" cy="141732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DISK_CACHE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按 page_id 读 .diskcache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同 hop 同页去重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983480"/>
            <a:ext cx="3566160" cy="1417320"/>
          </a:xfrm>
          <a:prstGeom prst="roundRect">
            <a:avLst/>
          </a:prstGeom>
          <a:solidFill>
            <a:srgbClr val="CFD8DC"/>
          </a:solidFill>
          <a:ln w="1905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BASE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O_DIRECT 读 _disk.index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随机 4KB sector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794760"/>
            <a:ext cx="4114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55A64"/>
                </a:solidFill>
                <a:latin typeface="Microsoft YaHei"/>
                <a:ea typeface="Microsoft YaHei"/>
              </a:rPr>
              <a:t>三路汇合后：
解析 coords + nhood
→ PQ 算邻居距离
→ 更新 retset → 继续 Beam
→ 结束输出 Top-K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  ③ 搜索补充：每 hop 的 IO 与不变项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11521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55A64"/>
                </a:solidFill>
                <a:latin typeface="Microsoft YaHei"/>
                <a:ea typeface="Microsoft YaHei"/>
              </a:rPr>
              <a:t>搜索算法/图拓扑不变；变的是「展开一个节点时读哪里」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566160" cy="457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不变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3566160" cy="28346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A2337"/>
                </a:solidFill>
                <a:latin typeface="Microsoft YaHei"/>
                <a:ea typeface="Microsoft YaHei"/>
              </a:rPr>
              <a:t>• 图结构与邻居 ID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Beam / L / K 参数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PQ 导航与距离计算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medoid 选入口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输出 Top-K 语义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566160" cy="457200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每 hop 可能变化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566160" cy="283464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A2337"/>
                </a:solidFill>
                <a:latin typeface="Microsoft YaHei"/>
                <a:ea typeface="Microsoft YaHei"/>
              </a:rPr>
              <a:t>• Memory hit：无 IO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DiskCache hit：读 cache 页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Base miss：读原盘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同页多点一次读齐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n_ios / pages 统计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188720"/>
            <a:ext cx="356616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设计目标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737360"/>
            <a:ext cx="3566160" cy="283464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A2337"/>
                </a:solidFill>
                <a:latin typeface="Microsoft YaHei"/>
                <a:ea typeface="Microsoft YaHei"/>
              </a:rPr>
              <a:t>• 少碰 Base 随机 IO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同页共置提高复用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Recall 与 baseline 对齐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Latency / QPS 改善</a:t>
            </a:r>
          </a:p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• 可开关对比实验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846320"/>
            <a:ext cx="11430000" cy="1554480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注意</a:t>
            </a:r>
          </a:p>
          <a:p>
            <a:pPr algn="l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• V1 搜索过程中：不淘汰、不迁入、不改 node_directory（静态三级）</a:t>
            </a:r>
          </a:p>
          <a:p>
            <a:pPr algn="l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• 可在搜索时顺手累计访问计数，供下次更新使用，但布局不随单条 Query 实时改</a:t>
            </a:r>
          </a:p>
          <a:p>
            <a:pPr algn="l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• Disk Cache 与 Base 都建议 O_DIRECT，避免和 OS page cache 混在一起难测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  ④ 更新阶段：定时批量刷新（非 OS 实时 LRU）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11521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55A64"/>
                </a:solidFill>
                <a:latin typeface="Microsoft YaHei"/>
                <a:ea typeface="Microsoft YaHei"/>
              </a:rPr>
              <a:t>V1 静态可用；V2 推荐 epoch / 每天 / 每 N 万 query 整批重建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11430000" cy="594360"/>
          </a:xfrm>
          <a:prstGeom prst="roundRect">
            <a:avLst/>
          </a:prstGeom>
          <a:solidFill>
            <a:srgbClr val="B2DFDB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337"/>
                </a:solidFill>
                <a:latin typeface="Microsoft YaHei"/>
                <a:ea typeface="Microsoft YaHei"/>
              </a:rPr>
              <a:t>触发条件：到达 epoch / 每天定时 / 累计 N 万 query / workload 明显漂移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965960"/>
            <a:ext cx="2377440" cy="15544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线上服务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顺手累计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H(v)/边计数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88920" y="2560320"/>
            <a:ext cx="502920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1965960"/>
            <a:ext cx="2377440" cy="155448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到点后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汇总 / 衰减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重跑 profile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40679" y="2560320"/>
            <a:ext cx="502920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0" y="1965960"/>
            <a:ext cx="2377440" cy="155448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重算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Top-M / Next-D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重新装箱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092440" y="2560320"/>
            <a:ext cx="502920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0" y="1965960"/>
            <a:ext cx="2377440" cy="155448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写新文件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原子切换路径</a:t>
            </a:r>
          </a:p>
          <a:p>
            <a:pPr algn="ctr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可选 reload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840480"/>
            <a:ext cx="5577840" cy="246888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做什么 ✅</a:t>
            </a:r>
          </a:p>
          <a:p>
            <a:pPr algn="l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• 批量重建 .diskcache 整文件</a:t>
            </a:r>
          </a:p>
          <a:p>
            <a:pPr algn="l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• 重算 Memory 名单并 reload</a:t>
            </a:r>
          </a:p>
          <a:p>
            <a:pPr algn="l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• 新旧文件并存，建好再切指针</a:t>
            </a:r>
          </a:p>
          <a:p>
            <a:pPr algn="l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• DRAM 与 Disk Cache 可同节奏刷新</a:t>
            </a:r>
          </a:p>
          <a:p>
            <a:pPr algn="l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• 切换前服务仍用旧版继续答 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577840" cy="2468880"/>
          </a:xfrm>
          <a:prstGeom prst="roundRect">
            <a:avLst/>
          </a:prstGeom>
          <a:solidFill>
            <a:srgbClr val="CFD8DC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2337"/>
                </a:solidFill>
                <a:latin typeface="Microsoft YaHei"/>
                <a:ea typeface="Microsoft YaHei"/>
              </a:rPr>
              <a:t>不做什么 ❌（尤其 Disk Cache）</a:t>
            </a:r>
          </a:p>
          <a:p>
            <a:pPr algn="l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• 不做每条 Query 实时换页 / LRU</a:t>
            </a:r>
          </a:p>
          <a:p>
            <a:pPr algn="l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• 不在搜索热路径里改页布局</a:t>
            </a:r>
          </a:p>
          <a:p>
            <a:pPr algn="l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• 不边读边写同一 cache 文件</a:t>
            </a:r>
          </a:p>
          <a:p>
            <a:pPr algn="l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• 不依赖 OS page cache 当二级缓存</a:t>
            </a:r>
          </a:p>
          <a:p>
            <a:pPr algn="l"/>
            <a:r>
              <a:rPr sz="1100" b="0">
                <a:solidFill>
                  <a:srgbClr val="1A2337"/>
                </a:solidFill>
                <a:latin typeface="Microsoft YaHei"/>
                <a:ea typeface="Microsoft YaHei"/>
              </a:rPr>
              <a:t>• 原因：共置布局一改牵动目录与写放大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  端到端串起来：Build → Search →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11521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55A64"/>
                </a:solidFill>
                <a:latin typeface="Microsoft YaHei"/>
                <a:ea typeface="Microsoft YaHei"/>
              </a:rPr>
              <a:t>一张图看清完整生命周期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188720"/>
            <a:ext cx="1234440" cy="1417320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构建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325880"/>
            <a:ext cx="1508760" cy="114300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建 Base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1737360"/>
            <a:ext cx="164592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7560" y="1325880"/>
            <a:ext cx="1508760" cy="114300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Profile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46320" y="1737360"/>
            <a:ext cx="164592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1325880"/>
            <a:ext cx="1508760" cy="114300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分级 M/D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37960" y="1737360"/>
            <a:ext cx="164592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20840" y="1325880"/>
            <a:ext cx="1508760" cy="114300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装箱 DC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229600" y="1737360"/>
            <a:ext cx="164592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325880"/>
            <a:ext cx="1508760" cy="114300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Load Mem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921240" y="1737360"/>
            <a:ext cx="164592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04120" y="1325880"/>
            <a:ext cx="1508760" cy="114300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目录表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2926080"/>
            <a:ext cx="1234440" cy="1417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搜索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3063240"/>
            <a:ext cx="1508760" cy="1143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Query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54680" y="3474720"/>
            <a:ext cx="164592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37560" y="3063240"/>
            <a:ext cx="1508760" cy="1143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PQ导航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46320" y="3474720"/>
            <a:ext cx="164592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0" y="3063240"/>
            <a:ext cx="1508760" cy="1143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Mem?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537960" y="3474720"/>
            <a:ext cx="164592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20840" y="3063240"/>
            <a:ext cx="1508760" cy="1143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DC页?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229600" y="3474720"/>
            <a:ext cx="164592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0" y="3063240"/>
            <a:ext cx="1508760" cy="1143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Base?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921240" y="3474720"/>
            <a:ext cx="164592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04120" y="3063240"/>
            <a:ext cx="1508760" cy="1143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Top-K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" y="4663440"/>
            <a:ext cx="1234440" cy="141732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更新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45920" y="4800600"/>
            <a:ext cx="1508760" cy="1143000"/>
          </a:xfrm>
          <a:prstGeom prst="roundRect">
            <a:avLst/>
          </a:prstGeom>
          <a:solidFill>
            <a:srgbClr val="B2DFDB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累计计数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154680" y="5212080"/>
            <a:ext cx="164592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37560" y="4800600"/>
            <a:ext cx="1508760" cy="1143000"/>
          </a:xfrm>
          <a:prstGeom prst="roundRect">
            <a:avLst/>
          </a:prstGeom>
          <a:solidFill>
            <a:srgbClr val="B2DFDB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触发条件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846320" y="5212080"/>
            <a:ext cx="164592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200" y="4800600"/>
            <a:ext cx="1508760" cy="1143000"/>
          </a:xfrm>
          <a:prstGeom prst="roundRect">
            <a:avLst/>
          </a:prstGeom>
          <a:solidFill>
            <a:srgbClr val="B2DFDB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重profile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537960" y="5212080"/>
            <a:ext cx="164592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20840" y="4800600"/>
            <a:ext cx="1508760" cy="1143000"/>
          </a:xfrm>
          <a:prstGeom prst="roundRect">
            <a:avLst/>
          </a:prstGeom>
          <a:solidFill>
            <a:srgbClr val="B2DFDB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重建M/D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229600" y="5212080"/>
            <a:ext cx="164592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12480" y="4800600"/>
            <a:ext cx="1508760" cy="1143000"/>
          </a:xfrm>
          <a:prstGeom prst="roundRect">
            <a:avLst/>
          </a:prstGeom>
          <a:solidFill>
            <a:srgbClr val="B2DFDB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原子切换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921240" y="5212080"/>
            <a:ext cx="164592" cy="182880"/>
          </a:xfrm>
          <a:prstGeom prst="rightArrow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104120" y="4800600"/>
            <a:ext cx="1508760" cy="1143000"/>
          </a:xfrm>
          <a:prstGeom prst="roundRect">
            <a:avLst/>
          </a:prstGeom>
          <a:solidFill>
            <a:srgbClr val="B2DFDB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337"/>
                </a:solidFill>
                <a:latin typeface="Microsoft YaHei"/>
                <a:ea typeface="Microsoft YaHei"/>
              </a:rPr>
              <a:t>继续服务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55A64"/>
                </a:solidFill>
                <a:latin typeface="Microsoft YaHei"/>
                <a:ea typeface="Microsoft YaHei"/>
              </a:rPr>
              <a:t>闭环：更新完成后回到「搜索」；新的计数又为下一次更新做准备。主图 Base 始终不动。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  讲解时可强调的对比点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11521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55A64"/>
                </a:solidFill>
                <a:latin typeface="Microsoft YaHei"/>
                <a:ea typeface="Microsoft YaHei"/>
              </a:rPr>
              <a:t>方便放在 PPT 末页口头收束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200400" cy="731520"/>
          </a:xfrm>
          <a:prstGeom prst="round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vs 原生 DiskANN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188720"/>
            <a:ext cx="7955279" cy="7315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A2337"/>
                </a:solidFill>
                <a:latin typeface="Microsoft YaHei"/>
                <a:ea typeface="Microsoft YaHei"/>
              </a:rPr>
              <a:t>只有 Memory 热节点；次热点仍打散在 Base 随机读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57400"/>
            <a:ext cx="3200400" cy="731520"/>
          </a:xfrm>
          <a:prstGeom prst="round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vs 只加大 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057400"/>
            <a:ext cx="7955279" cy="7315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A2337"/>
                </a:solidFill>
                <a:latin typeface="Microsoft YaHei"/>
                <a:ea typeface="Microsoft YaHei"/>
              </a:rPr>
              <a:t>DRAM 不够时，Disk Cache 承接次热并做页共置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926080"/>
            <a:ext cx="3200400" cy="731520"/>
          </a:xfrm>
          <a:prstGeom prst="round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vs MARGO/改主图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926080"/>
            <a:ext cx="7955279" cy="7315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A2337"/>
                </a:solidFill>
                <a:latin typeface="Microsoft YaHei"/>
                <a:ea typeface="Microsoft YaHei"/>
              </a:rPr>
              <a:t>我们不重排 _disk.index；缓存可独立刷新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794760"/>
            <a:ext cx="3200400" cy="731520"/>
          </a:xfrm>
          <a:prstGeom prst="round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vs OS page cache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3794760"/>
            <a:ext cx="7955279" cy="7315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A2337"/>
                </a:solidFill>
                <a:latin typeface="Microsoft YaHei"/>
                <a:ea typeface="Microsoft YaHei"/>
              </a:rPr>
              <a:t>O_DIRECT + 应用侧规划布局；不是内核 LRU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663440"/>
            <a:ext cx="3200400" cy="731520"/>
          </a:xfrm>
          <a:prstGeom prst="round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更新哲学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4663440"/>
            <a:ext cx="7955279" cy="7315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A2337"/>
                </a:solidFill>
                <a:latin typeface="Microsoft YaHei"/>
                <a:ea typeface="Microsoft YaHei"/>
              </a:rPr>
              <a:t>离线/定时整批重建，不做查询级实时换页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
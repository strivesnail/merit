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3856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MERIT 的缓存替换与更新。一次访问碰到 A 的邻居 z，z 进入 N-cache 的 LRU 结构头部，并记入 M-cache，于是 A 的出边热度 H(A) 和 z 的权重一起升高。如果 N-cache 已满，就按 LRU 去掉最后一位 p；M-cache 满时同样按 LRU 淘汰非种子条目 q。A 是最热的非种子，B 是最冷的种子。如果 D-cache 已满，并且 H(A) &gt; H(B)，就用 A 换下 B。新页由 A 和它在 N-cache 中权重最高的邻居 z、v、w 组成，与其他待写页一起进入提交队列，异步写入后替换掉 B 那一页。如果之后又访问到 A 的邻居 x，就把 x 追加到 A 所在的 page。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-cache title"/>
          <p:cNvSpPr txBox="1"/>
          <p:nvPr/>
        </p:nvSpPr>
        <p:spPr>
          <a:xfrm>
            <a:off x="457200" y="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N-cache</a:t>
            </a:r>
          </a:p>
        </p:txBody>
      </p:sp>
      <p:sp>
        <p:nvSpPr>
          <p:cNvPr id="3" name="N-cache LRU"/>
          <p:cNvSpPr txBox="1"/>
          <p:nvPr/>
        </p:nvSpPr>
        <p:spPr>
          <a:xfrm>
            <a:off x="457200" y="32918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LRU</a:t>
            </a:r>
          </a:p>
        </p:txBody>
      </p:sp>
      <p:sp>
        <p:nvSpPr>
          <p:cNvPr id="4" name="N-cache z"/>
          <p:cNvSpPr/>
          <p:nvPr/>
        </p:nvSpPr>
        <p:spPr>
          <a:xfrm>
            <a:off x="1188720" y="59436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sp>
        <p:nvSpPr>
          <p:cNvPr id="5" name="N-cache v"/>
          <p:cNvSpPr/>
          <p:nvPr/>
        </p:nvSpPr>
        <p:spPr>
          <a:xfrm>
            <a:off x="1188720" y="100584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6" name="N-cache w"/>
          <p:cNvSpPr/>
          <p:nvPr/>
        </p:nvSpPr>
        <p:spPr>
          <a:xfrm>
            <a:off x="1188720" y="141732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sp>
        <p:nvSpPr>
          <p:cNvPr id="7" name="N-cache A"/>
          <p:cNvSpPr/>
          <p:nvPr/>
        </p:nvSpPr>
        <p:spPr>
          <a:xfrm>
            <a:off x="1188720" y="1828800"/>
            <a:ext cx="36576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8" name="N-cache u"/>
          <p:cNvSpPr/>
          <p:nvPr/>
        </p:nvSpPr>
        <p:spPr>
          <a:xfrm>
            <a:off x="1188720" y="224028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9" name="N-cache dots"/>
          <p:cNvSpPr txBox="1"/>
          <p:nvPr/>
        </p:nvSpPr>
        <p:spPr>
          <a:xfrm>
            <a:off x="1188720" y="26334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⋮</a:t>
            </a:r>
          </a:p>
        </p:txBody>
      </p:sp>
      <p:sp>
        <p:nvSpPr>
          <p:cNvPr id="10" name="N-cache p"/>
          <p:cNvSpPr/>
          <p:nvPr/>
        </p:nvSpPr>
        <p:spPr>
          <a:xfrm>
            <a:off x="1188720" y="2953512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</a:t>
            </a:r>
          </a:p>
        </p:txBody>
      </p:sp>
      <p:cxnSp>
        <p:nvCxnSpPr>
          <p:cNvPr id="11" name="cross p 1"/>
          <p:cNvCxnSpPr/>
          <p:nvPr/>
        </p:nvCxnSpPr>
        <p:spPr>
          <a:xfrm>
            <a:off x="1188720" y="2953512"/>
            <a:ext cx="365760" cy="36576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ross p 2"/>
          <p:cNvCxnSpPr/>
          <p:nvPr/>
        </p:nvCxnSpPr>
        <p:spPr>
          <a:xfrm flipV="1">
            <a:off x="1188720" y="2953512"/>
            <a:ext cx="365760" cy="36576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z into N-cache head"/>
          <p:cNvCxnSpPr/>
          <p:nvPr/>
        </p:nvCxnSpPr>
        <p:spPr>
          <a:xfrm>
            <a:off x="502920" y="777240"/>
            <a:ext cx="667512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ep 1"/>
          <p:cNvSpPr txBox="1"/>
          <p:nvPr/>
        </p:nvSpPr>
        <p:spPr>
          <a:xfrm>
            <a:off x="566928" y="51206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(1)</a:t>
            </a:r>
          </a:p>
        </p:txBody>
      </p:sp>
      <p:sp>
        <p:nvSpPr>
          <p:cNvPr id="15" name="M-cache title"/>
          <p:cNvSpPr txBox="1"/>
          <p:nvPr/>
        </p:nvSpPr>
        <p:spPr>
          <a:xfrm>
            <a:off x="7315200" y="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M-cache</a:t>
            </a:r>
          </a:p>
        </p:txBody>
      </p:sp>
      <p:sp>
        <p:nvSpPr>
          <p:cNvPr id="16" name="M-cache LRU"/>
          <p:cNvSpPr txBox="1"/>
          <p:nvPr/>
        </p:nvSpPr>
        <p:spPr>
          <a:xfrm>
            <a:off x="7315200" y="32918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LRU</a:t>
            </a:r>
          </a:p>
        </p:txBody>
      </p:sp>
      <p:graphicFrame>
        <p:nvGraphicFramePr>
          <p:cNvPr id="17" name="M-cache table"/>
          <p:cNvGraphicFramePr>
            <a:graphicFrameLocks noGrp="1"/>
          </p:cNvGraphicFramePr>
          <p:nvPr/>
        </p:nvGraphicFramePr>
        <p:xfrm>
          <a:off x="7315200" y="566928"/>
          <a:ext cx="3291839" cy="1371600"/>
        </p:xfrm>
        <a:graphic>
          <a:graphicData uri="http://schemas.openxmlformats.org/drawingml/2006/table">
            <a:tbl>
              <a:tblPr firstRow="1" bandRow="1"/>
              <a:tblGrid>
                <a:gridCol w="592531"/>
                <a:gridCol w="526694"/>
                <a:gridCol w="2172614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H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W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z:7,  v:4,  w:3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r:3,  s:2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…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…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…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y:1</a:t>
                      </a:r>
                    </a:p>
                  </a:txBody>
                  <a:tcPr anchor="ctr" marL="18288" marR="18288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18" name="cross q row"/>
          <p:cNvCxnSpPr/>
          <p:nvPr/>
        </p:nvCxnSpPr>
        <p:spPr>
          <a:xfrm>
            <a:off x="7360920" y="1801367"/>
            <a:ext cx="3200399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ccess z (2)"/>
          <p:cNvSpPr/>
          <p:nvPr/>
        </p:nvSpPr>
        <p:spPr>
          <a:xfrm>
            <a:off x="6035040" y="795527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cxnSp>
        <p:nvCxnSpPr>
          <p:cNvPr id="20" name="z into M-cache"/>
          <p:cNvCxnSpPr/>
          <p:nvPr/>
        </p:nvCxnSpPr>
        <p:spPr>
          <a:xfrm>
            <a:off x="6400800" y="978407"/>
            <a:ext cx="896112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 2"/>
          <p:cNvSpPr txBox="1"/>
          <p:nvPr/>
        </p:nvSpPr>
        <p:spPr>
          <a:xfrm>
            <a:off x="6629400" y="722375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(2)</a:t>
            </a:r>
          </a:p>
        </p:txBody>
      </p:sp>
      <p:sp>
        <p:nvSpPr>
          <p:cNvPr id="22" name="Max label"/>
          <p:cNvSpPr txBox="1"/>
          <p:nvPr/>
        </p:nvSpPr>
        <p:spPr>
          <a:xfrm>
            <a:off x="7406640" y="205740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Max Heap</a:t>
            </a:r>
          </a:p>
        </p:txBody>
      </p:sp>
      <p:sp>
        <p:nvSpPr>
          <p:cNvPr id="23" name="heap A"/>
          <p:cNvSpPr/>
          <p:nvPr/>
        </p:nvSpPr>
        <p:spPr>
          <a:xfrm>
            <a:off x="7845552" y="2359152"/>
            <a:ext cx="310896" cy="310896"/>
          </a:xfrm>
          <a:prstGeom prst="ellipse">
            <a:avLst/>
          </a:prstGeom>
          <a:solidFill>
            <a:srgbClr val="E4E4E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4" name="heap D"/>
          <p:cNvSpPr/>
          <p:nvPr/>
        </p:nvSpPr>
        <p:spPr>
          <a:xfrm>
            <a:off x="7525512" y="2843784"/>
            <a:ext cx="310896" cy="310896"/>
          </a:xfrm>
          <a:prstGeom prst="ellipse">
            <a:avLst/>
          </a:prstGeom>
          <a:solidFill>
            <a:srgbClr val="E4E4E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25" name="heap E"/>
          <p:cNvSpPr/>
          <p:nvPr/>
        </p:nvSpPr>
        <p:spPr>
          <a:xfrm>
            <a:off x="8165592" y="2843784"/>
            <a:ext cx="310896" cy="310896"/>
          </a:xfrm>
          <a:prstGeom prst="ellipse">
            <a:avLst/>
          </a:prstGeom>
          <a:solidFill>
            <a:srgbClr val="E4E4E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cxnSp>
        <p:nvCxnSpPr>
          <p:cNvPr id="26" name="heap A-D"/>
          <p:cNvCxnSpPr/>
          <p:nvPr/>
        </p:nvCxnSpPr>
        <p:spPr>
          <a:xfrm flipH="1">
            <a:off x="7744968" y="2651760"/>
            <a:ext cx="164592" cy="2103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heap A-E"/>
          <p:cNvCxnSpPr/>
          <p:nvPr/>
        </p:nvCxnSpPr>
        <p:spPr>
          <a:xfrm>
            <a:off x="8092440" y="2651760"/>
            <a:ext cx="164591" cy="2103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onSeed tag"/>
          <p:cNvSpPr/>
          <p:nvPr/>
        </p:nvSpPr>
        <p:spPr>
          <a:xfrm>
            <a:off x="7635240" y="3291840"/>
            <a:ext cx="731520" cy="2560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NonSeed</a:t>
            </a:r>
          </a:p>
        </p:txBody>
      </p:sp>
      <p:sp>
        <p:nvSpPr>
          <p:cNvPr id="29" name="Min label"/>
          <p:cNvSpPr txBox="1"/>
          <p:nvPr/>
        </p:nvSpPr>
        <p:spPr>
          <a:xfrm>
            <a:off x="9418320" y="205740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Min Heap</a:t>
            </a:r>
          </a:p>
        </p:txBody>
      </p:sp>
      <p:sp>
        <p:nvSpPr>
          <p:cNvPr id="30" name="heap B"/>
          <p:cNvSpPr/>
          <p:nvPr/>
        </p:nvSpPr>
        <p:spPr>
          <a:xfrm>
            <a:off x="9857232" y="2359152"/>
            <a:ext cx="310896" cy="310896"/>
          </a:xfrm>
          <a:prstGeom prst="ellipse">
            <a:avLst/>
          </a:prstGeom>
          <a:solidFill>
            <a:srgbClr val="E4E4E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31" name="heap C"/>
          <p:cNvSpPr/>
          <p:nvPr/>
        </p:nvSpPr>
        <p:spPr>
          <a:xfrm>
            <a:off x="9537192" y="2843784"/>
            <a:ext cx="310896" cy="310896"/>
          </a:xfrm>
          <a:prstGeom prst="ellipse">
            <a:avLst/>
          </a:prstGeom>
          <a:solidFill>
            <a:srgbClr val="E4E4E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32" name="heap F"/>
          <p:cNvSpPr/>
          <p:nvPr/>
        </p:nvSpPr>
        <p:spPr>
          <a:xfrm>
            <a:off x="10177272" y="2843784"/>
            <a:ext cx="310896" cy="310896"/>
          </a:xfrm>
          <a:prstGeom prst="ellipse">
            <a:avLst/>
          </a:prstGeom>
          <a:solidFill>
            <a:srgbClr val="E4E4E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</a:t>
            </a:r>
          </a:p>
        </p:txBody>
      </p:sp>
      <p:cxnSp>
        <p:nvCxnSpPr>
          <p:cNvPr id="33" name="heap B-C"/>
          <p:cNvCxnSpPr/>
          <p:nvPr/>
        </p:nvCxnSpPr>
        <p:spPr>
          <a:xfrm flipH="1">
            <a:off x="9756648" y="2651760"/>
            <a:ext cx="164592" cy="2103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heap B-F"/>
          <p:cNvCxnSpPr/>
          <p:nvPr/>
        </p:nvCxnSpPr>
        <p:spPr>
          <a:xfrm>
            <a:off x="10104120" y="2651760"/>
            <a:ext cx="164592" cy="2103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eed tag"/>
          <p:cNvSpPr/>
          <p:nvPr/>
        </p:nvSpPr>
        <p:spPr>
          <a:xfrm>
            <a:off x="9646920" y="3291840"/>
            <a:ext cx="731520" cy="2560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Seed</a:t>
            </a:r>
          </a:p>
        </p:txBody>
      </p:sp>
      <p:sp>
        <p:nvSpPr>
          <p:cNvPr id="36" name="heap condition"/>
          <p:cNvSpPr txBox="1"/>
          <p:nvPr/>
        </p:nvSpPr>
        <p:spPr>
          <a:xfrm>
            <a:off x="8549640" y="2331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H(A) &gt; H(B)</a:t>
            </a:r>
          </a:p>
        </p:txBody>
      </p:sp>
      <p:sp>
        <p:nvSpPr>
          <p:cNvPr id="37" name="step 3"/>
          <p:cNvSpPr txBox="1"/>
          <p:nvPr/>
        </p:nvSpPr>
        <p:spPr>
          <a:xfrm>
            <a:off x="8869680" y="260604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(3)</a:t>
            </a:r>
          </a:p>
        </p:txBody>
      </p:sp>
      <p:sp>
        <p:nvSpPr>
          <p:cNvPr id="38" name="commit queue box"/>
          <p:cNvSpPr/>
          <p:nvPr/>
        </p:nvSpPr>
        <p:spPr>
          <a:xfrm>
            <a:off x="3634740" y="2852928"/>
            <a:ext cx="2377439" cy="420623"/>
          </a:xfrm>
          <a:prstGeom prst="roundRect">
            <a:avLst>
              <a:gd name="adj" fmla="val 18000"/>
            </a:avLst>
          </a:prstGeom>
          <a:solidFill>
            <a:srgbClr val="F3F6F8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queue block 0"/>
          <p:cNvSpPr/>
          <p:nvPr/>
        </p:nvSpPr>
        <p:spPr>
          <a:xfrm>
            <a:off x="3771900" y="2926080"/>
            <a:ext cx="274320" cy="27432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queue block 1"/>
          <p:cNvSpPr/>
          <p:nvPr/>
        </p:nvSpPr>
        <p:spPr>
          <a:xfrm>
            <a:off x="4137660" y="2926080"/>
            <a:ext cx="274320" cy="27432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queue block 2"/>
          <p:cNvSpPr/>
          <p:nvPr/>
        </p:nvSpPr>
        <p:spPr>
          <a:xfrm>
            <a:off x="4503420" y="2926080"/>
            <a:ext cx="274320" cy="27432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queue block 3"/>
          <p:cNvSpPr/>
          <p:nvPr/>
        </p:nvSpPr>
        <p:spPr>
          <a:xfrm>
            <a:off x="4869180" y="2926080"/>
            <a:ext cx="274320" cy="27432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3" name="queue block 4"/>
          <p:cNvSpPr/>
          <p:nvPr/>
        </p:nvSpPr>
        <p:spPr>
          <a:xfrm>
            <a:off x="5234940" y="2926080"/>
            <a:ext cx="274320" cy="27432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4" name="queue block 5"/>
          <p:cNvSpPr/>
          <p:nvPr/>
        </p:nvSpPr>
        <p:spPr>
          <a:xfrm>
            <a:off x="5600700" y="2926080"/>
            <a:ext cx="274320" cy="274320"/>
          </a:xfrm>
          <a:prstGeom prst="rect">
            <a:avLst/>
          </a:prstGeom>
          <a:solidFill>
            <a:srgbClr val="BFD3E3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5" name="commit queue label"/>
          <p:cNvSpPr txBox="1"/>
          <p:nvPr/>
        </p:nvSpPr>
        <p:spPr>
          <a:xfrm>
            <a:off x="2103120" y="29443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Commit queue</a:t>
            </a:r>
          </a:p>
        </p:txBody>
      </p:sp>
      <p:sp>
        <p:nvSpPr>
          <p:cNvPr id="46" name="queue head label"/>
          <p:cNvSpPr txBox="1"/>
          <p:nvPr/>
        </p:nvSpPr>
        <p:spPr>
          <a:xfrm>
            <a:off x="3945636" y="32735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head</a:t>
            </a:r>
          </a:p>
        </p:txBody>
      </p:sp>
      <p:sp>
        <p:nvSpPr>
          <p:cNvPr id="47" name="queue tail label"/>
          <p:cNvSpPr txBox="1"/>
          <p:nvPr/>
        </p:nvSpPr>
        <p:spPr>
          <a:xfrm>
            <a:off x="5463540" y="32918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tail</a:t>
            </a:r>
          </a:p>
        </p:txBody>
      </p:sp>
      <p:sp>
        <p:nvSpPr>
          <p:cNvPr id="48" name="zoom frame"/>
          <p:cNvSpPr/>
          <p:nvPr/>
        </p:nvSpPr>
        <p:spPr>
          <a:xfrm>
            <a:off x="4846320" y="1965960"/>
            <a:ext cx="1783079" cy="548640"/>
          </a:xfrm>
          <a:prstGeom prst="roundRect">
            <a:avLst>
              <a:gd name="adj" fmla="val 18000"/>
            </a:avLst>
          </a:prstGeom>
          <a:solidFill>
            <a:srgbClr val="EAF1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zoom page 0"/>
          <p:cNvSpPr/>
          <p:nvPr/>
        </p:nvSpPr>
        <p:spPr>
          <a:xfrm>
            <a:off x="4937760" y="2057400"/>
            <a:ext cx="36576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50" name="zoom page 1"/>
          <p:cNvSpPr/>
          <p:nvPr/>
        </p:nvSpPr>
        <p:spPr>
          <a:xfrm>
            <a:off x="5349240" y="205740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sp>
        <p:nvSpPr>
          <p:cNvPr id="51" name="zoom page 2"/>
          <p:cNvSpPr/>
          <p:nvPr/>
        </p:nvSpPr>
        <p:spPr>
          <a:xfrm>
            <a:off x="5760720" y="205740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52" name="zoom page 3"/>
          <p:cNvSpPr/>
          <p:nvPr/>
        </p:nvSpPr>
        <p:spPr>
          <a:xfrm>
            <a:off x="6172200" y="205740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cxnSp>
        <p:nvCxnSpPr>
          <p:cNvPr id="53" name="zoom left"/>
          <p:cNvCxnSpPr/>
          <p:nvPr/>
        </p:nvCxnSpPr>
        <p:spPr>
          <a:xfrm flipH="1" flipV="1">
            <a:off x="4864608" y="2514600"/>
            <a:ext cx="736092" cy="411480"/>
          </a:xfrm>
          <a:prstGeom prst="line">
            <a:avLst/>
          </a:prstGeom>
          <a:ln w="11430">
            <a:solidFill>
              <a:srgbClr val="3F3F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zoom right"/>
          <p:cNvCxnSpPr/>
          <p:nvPr/>
        </p:nvCxnSpPr>
        <p:spPr>
          <a:xfrm flipV="1">
            <a:off x="5875020" y="2514600"/>
            <a:ext cx="736092" cy="411480"/>
          </a:xfrm>
          <a:prstGeom prst="line">
            <a:avLst/>
          </a:prstGeom>
          <a:ln w="11430">
            <a:solidFill>
              <a:srgbClr val="3F3F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nqueue"/>
          <p:cNvCxnSpPr/>
          <p:nvPr/>
        </p:nvCxnSpPr>
        <p:spPr>
          <a:xfrm flipH="1">
            <a:off x="6030468" y="2560320"/>
            <a:ext cx="1796796" cy="50292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step 4"/>
          <p:cNvSpPr txBox="1"/>
          <p:nvPr/>
        </p:nvSpPr>
        <p:spPr>
          <a:xfrm>
            <a:off x="7040880" y="246888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(4)</a:t>
            </a:r>
          </a:p>
        </p:txBody>
      </p:sp>
      <p:cxnSp>
        <p:nvCxnSpPr>
          <p:cNvPr id="57" name="N-cache z to merge"/>
          <p:cNvCxnSpPr/>
          <p:nvPr/>
        </p:nvCxnSpPr>
        <p:spPr>
          <a:xfrm>
            <a:off x="1591056" y="777240"/>
            <a:ext cx="1975104" cy="1463040"/>
          </a:xfrm>
          <a:prstGeom prst="curvedConnector3">
            <a:avLst/>
          </a:prstGeom>
          <a:ln w="12700">
            <a:solidFill>
              <a:srgbClr val="3F3F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-cache v to merge"/>
          <p:cNvCxnSpPr/>
          <p:nvPr/>
        </p:nvCxnSpPr>
        <p:spPr>
          <a:xfrm>
            <a:off x="1591056" y="1188720"/>
            <a:ext cx="1975104" cy="1051560"/>
          </a:xfrm>
          <a:prstGeom prst="curvedConnector3">
            <a:avLst/>
          </a:prstGeom>
          <a:ln w="12700">
            <a:solidFill>
              <a:srgbClr val="3F3F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-cache w to merge"/>
          <p:cNvCxnSpPr/>
          <p:nvPr/>
        </p:nvCxnSpPr>
        <p:spPr>
          <a:xfrm>
            <a:off x="1591056" y="1600200"/>
            <a:ext cx="1975104" cy="640080"/>
          </a:xfrm>
          <a:prstGeom prst="curvedConnector3">
            <a:avLst/>
          </a:prstGeom>
          <a:ln w="12700">
            <a:solidFill>
              <a:srgbClr val="3F3F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-cache A to merge"/>
          <p:cNvCxnSpPr/>
          <p:nvPr/>
        </p:nvCxnSpPr>
        <p:spPr>
          <a:xfrm>
            <a:off x="1591056" y="2011680"/>
            <a:ext cx="1975104" cy="228600"/>
          </a:xfrm>
          <a:prstGeom prst="curvedConnector3">
            <a:avLst/>
          </a:prstGeom>
          <a:ln w="12700">
            <a:solidFill>
              <a:srgbClr val="3F3F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merged partners to tail page"/>
          <p:cNvCxnSpPr/>
          <p:nvPr/>
        </p:nvCxnSpPr>
        <p:spPr>
          <a:xfrm>
            <a:off x="3566160" y="2240280"/>
            <a:ext cx="1261872" cy="0"/>
          </a:xfrm>
          <a:prstGeom prst="line">
            <a:avLst/>
          </a:prstGeom>
          <a:ln w="12700">
            <a:solidFill>
              <a:srgbClr val="3F3F3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step 5"/>
          <p:cNvSpPr txBox="1"/>
          <p:nvPr/>
        </p:nvSpPr>
        <p:spPr>
          <a:xfrm>
            <a:off x="3840480" y="19659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(5)</a:t>
            </a:r>
          </a:p>
        </p:txBody>
      </p:sp>
      <p:cxnSp>
        <p:nvCxnSpPr>
          <p:cNvPr id="63" name="divider"/>
          <p:cNvCxnSpPr/>
          <p:nvPr/>
        </p:nvCxnSpPr>
        <p:spPr>
          <a:xfrm>
            <a:off x="274320" y="3703320"/>
            <a:ext cx="10789920" cy="0"/>
          </a:xfrm>
          <a:prstGeom prst="line">
            <a:avLst/>
          </a:prstGeom>
          <a:ln w="19050">
            <a:solidFill>
              <a:srgbClr val="1F5F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-cache title"/>
          <p:cNvSpPr txBox="1"/>
          <p:nvPr/>
        </p:nvSpPr>
        <p:spPr>
          <a:xfrm>
            <a:off x="4206240" y="3749039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D-cache</a:t>
            </a:r>
          </a:p>
        </p:txBody>
      </p:sp>
      <p:sp>
        <p:nvSpPr>
          <p:cNvPr id="65" name="Page1 label"/>
          <p:cNvSpPr txBox="1"/>
          <p:nvPr/>
        </p:nvSpPr>
        <p:spPr>
          <a:xfrm>
            <a:off x="137160" y="42062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Page1</a:t>
            </a:r>
          </a:p>
        </p:txBody>
      </p:sp>
      <p:sp>
        <p:nvSpPr>
          <p:cNvPr id="66" name="Page2 label"/>
          <p:cNvSpPr txBox="1"/>
          <p:nvPr/>
        </p:nvSpPr>
        <p:spPr>
          <a:xfrm>
            <a:off x="137160" y="4709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Page2</a:t>
            </a:r>
          </a:p>
        </p:txBody>
      </p:sp>
      <p:sp>
        <p:nvSpPr>
          <p:cNvPr id="67" name="Pagen label"/>
          <p:cNvSpPr txBox="1"/>
          <p:nvPr/>
        </p:nvSpPr>
        <p:spPr>
          <a:xfrm>
            <a:off x="137160" y="51663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Pagen</a:t>
            </a:r>
          </a:p>
        </p:txBody>
      </p:sp>
      <p:sp>
        <p:nvSpPr>
          <p:cNvPr id="68" name="before page1 0"/>
          <p:cNvSpPr/>
          <p:nvPr/>
        </p:nvSpPr>
        <p:spPr>
          <a:xfrm>
            <a:off x="914400" y="4206240"/>
            <a:ext cx="36576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69" name="before page1 1"/>
          <p:cNvSpPr/>
          <p:nvPr/>
        </p:nvSpPr>
        <p:spPr>
          <a:xfrm>
            <a:off x="1325880" y="420624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70" name="before page1 2"/>
          <p:cNvSpPr/>
          <p:nvPr/>
        </p:nvSpPr>
        <p:spPr>
          <a:xfrm>
            <a:off x="1737360" y="420624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sp>
        <p:nvSpPr>
          <p:cNvPr id="71" name="before page1 3"/>
          <p:cNvSpPr/>
          <p:nvPr/>
        </p:nvSpPr>
        <p:spPr>
          <a:xfrm>
            <a:off x="2148840" y="420624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72" name="after page1 0"/>
          <p:cNvSpPr/>
          <p:nvPr/>
        </p:nvSpPr>
        <p:spPr>
          <a:xfrm>
            <a:off x="3108960" y="4206240"/>
            <a:ext cx="36576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73" name="after page1 1"/>
          <p:cNvSpPr/>
          <p:nvPr/>
        </p:nvSpPr>
        <p:spPr>
          <a:xfrm>
            <a:off x="3520440" y="420624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sp>
        <p:nvSpPr>
          <p:cNvPr id="74" name="after page1 2"/>
          <p:cNvSpPr/>
          <p:nvPr/>
        </p:nvSpPr>
        <p:spPr>
          <a:xfrm>
            <a:off x="3931920" y="420624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75" name="after page1 3"/>
          <p:cNvSpPr/>
          <p:nvPr/>
        </p:nvSpPr>
        <p:spPr>
          <a:xfrm>
            <a:off x="4343400" y="420624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cxnSp>
        <p:nvCxnSpPr>
          <p:cNvPr id="76" name="page1 before to after"/>
          <p:cNvCxnSpPr/>
          <p:nvPr/>
        </p:nvCxnSpPr>
        <p:spPr>
          <a:xfrm>
            <a:off x="2587752" y="4389120"/>
            <a:ext cx="448056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before page2 0"/>
          <p:cNvSpPr/>
          <p:nvPr/>
        </p:nvSpPr>
        <p:spPr>
          <a:xfrm>
            <a:off x="914400" y="4709160"/>
            <a:ext cx="36576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78" name="before page2 1"/>
          <p:cNvSpPr/>
          <p:nvPr/>
        </p:nvSpPr>
        <p:spPr>
          <a:xfrm>
            <a:off x="1325880" y="470916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</a:t>
            </a:r>
          </a:p>
        </p:txBody>
      </p:sp>
      <p:sp>
        <p:nvSpPr>
          <p:cNvPr id="79" name="before page2 2"/>
          <p:cNvSpPr/>
          <p:nvPr/>
        </p:nvSpPr>
        <p:spPr>
          <a:xfrm>
            <a:off x="1737360" y="470916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</a:t>
            </a:r>
          </a:p>
        </p:txBody>
      </p:sp>
      <p:sp>
        <p:nvSpPr>
          <p:cNvPr id="80" name="before page2 3"/>
          <p:cNvSpPr/>
          <p:nvPr/>
        </p:nvSpPr>
        <p:spPr>
          <a:xfrm>
            <a:off x="2148840" y="470916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</a:t>
            </a:r>
          </a:p>
        </p:txBody>
      </p:sp>
      <p:sp>
        <p:nvSpPr>
          <p:cNvPr id="81" name="after page2 0"/>
          <p:cNvSpPr/>
          <p:nvPr/>
        </p:nvSpPr>
        <p:spPr>
          <a:xfrm>
            <a:off x="3108960" y="4709160"/>
            <a:ext cx="36576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82" name="after page2 1"/>
          <p:cNvSpPr/>
          <p:nvPr/>
        </p:nvSpPr>
        <p:spPr>
          <a:xfrm>
            <a:off x="3520440" y="470916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</a:t>
            </a:r>
          </a:p>
        </p:txBody>
      </p:sp>
      <p:sp>
        <p:nvSpPr>
          <p:cNvPr id="83" name="after page2 2"/>
          <p:cNvSpPr/>
          <p:nvPr/>
        </p:nvSpPr>
        <p:spPr>
          <a:xfrm>
            <a:off x="3931920" y="470916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</a:t>
            </a:r>
          </a:p>
        </p:txBody>
      </p:sp>
      <p:sp>
        <p:nvSpPr>
          <p:cNvPr id="84" name="after page2 3"/>
          <p:cNvSpPr/>
          <p:nvPr/>
        </p:nvSpPr>
        <p:spPr>
          <a:xfrm>
            <a:off x="4343400" y="470916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</a:t>
            </a:r>
          </a:p>
        </p:txBody>
      </p:sp>
      <p:cxnSp>
        <p:nvCxnSpPr>
          <p:cNvPr id="85" name="page2 before to after"/>
          <p:cNvCxnSpPr/>
          <p:nvPr/>
        </p:nvCxnSpPr>
        <p:spPr>
          <a:xfrm>
            <a:off x="2587752" y="4892040"/>
            <a:ext cx="448056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before dots"/>
          <p:cNvSpPr txBox="1"/>
          <p:nvPr/>
        </p:nvSpPr>
        <p:spPr>
          <a:xfrm>
            <a:off x="914400" y="51389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87" name="after dots"/>
          <p:cNvSpPr txBox="1"/>
          <p:nvPr/>
        </p:nvSpPr>
        <p:spPr>
          <a:xfrm>
            <a:off x="3108960" y="51389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88" name="Before label"/>
          <p:cNvSpPr txBox="1"/>
          <p:nvPr/>
        </p:nvSpPr>
        <p:spPr>
          <a:xfrm>
            <a:off x="914400" y="555955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Before</a:t>
            </a:r>
          </a:p>
        </p:txBody>
      </p:sp>
      <p:sp>
        <p:nvSpPr>
          <p:cNvPr id="89" name="After label"/>
          <p:cNvSpPr txBox="1"/>
          <p:nvPr/>
        </p:nvSpPr>
        <p:spPr>
          <a:xfrm>
            <a:off x="3108960" y="555955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After</a:t>
            </a:r>
          </a:p>
        </p:txBody>
      </p:sp>
      <p:cxnSp>
        <p:nvCxnSpPr>
          <p:cNvPr id="90" name="async write"/>
          <p:cNvCxnSpPr/>
          <p:nvPr/>
        </p:nvCxnSpPr>
        <p:spPr>
          <a:xfrm>
            <a:off x="3909060" y="3200400"/>
            <a:ext cx="0" cy="987552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async write label"/>
          <p:cNvSpPr txBox="1"/>
          <p:nvPr/>
        </p:nvSpPr>
        <p:spPr>
          <a:xfrm>
            <a:off x="3131820" y="3273552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Async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write</a:t>
            </a:r>
          </a:p>
        </p:txBody>
      </p:sp>
      <p:sp>
        <p:nvSpPr>
          <p:cNvPr id="92" name="step 6"/>
          <p:cNvSpPr txBox="1"/>
          <p:nvPr/>
        </p:nvSpPr>
        <p:spPr>
          <a:xfrm>
            <a:off x="3982212" y="347472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(6)</a:t>
            </a:r>
          </a:p>
        </p:txBody>
      </p:sp>
      <p:sp>
        <p:nvSpPr>
          <p:cNvPr id="93" name="update before 0"/>
          <p:cNvSpPr/>
          <p:nvPr/>
        </p:nvSpPr>
        <p:spPr>
          <a:xfrm>
            <a:off x="6035040" y="4206240"/>
            <a:ext cx="36576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94" name="update before 1"/>
          <p:cNvSpPr/>
          <p:nvPr/>
        </p:nvSpPr>
        <p:spPr>
          <a:xfrm>
            <a:off x="6446520" y="420624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sp>
        <p:nvSpPr>
          <p:cNvPr id="95" name="update before 2"/>
          <p:cNvSpPr/>
          <p:nvPr/>
        </p:nvSpPr>
        <p:spPr>
          <a:xfrm>
            <a:off x="6858000" y="420624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96" name="update before 3"/>
          <p:cNvSpPr/>
          <p:nvPr/>
        </p:nvSpPr>
        <p:spPr>
          <a:xfrm>
            <a:off x="7269479" y="420624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sp>
        <p:nvSpPr>
          <p:cNvPr id="97" name="plus"/>
          <p:cNvSpPr txBox="1"/>
          <p:nvPr/>
        </p:nvSpPr>
        <p:spPr>
          <a:xfrm>
            <a:off x="7662671" y="420624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8" name="update x"/>
          <p:cNvSpPr/>
          <p:nvPr/>
        </p:nvSpPr>
        <p:spPr>
          <a:xfrm>
            <a:off x="7891271" y="420624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cxnSp>
        <p:nvCxnSpPr>
          <p:cNvPr id="99" name="update arrow"/>
          <p:cNvCxnSpPr/>
          <p:nvPr/>
        </p:nvCxnSpPr>
        <p:spPr>
          <a:xfrm>
            <a:off x="8330183" y="4389120"/>
            <a:ext cx="310897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update after 0"/>
          <p:cNvSpPr/>
          <p:nvPr/>
        </p:nvSpPr>
        <p:spPr>
          <a:xfrm>
            <a:off x="8714232" y="4206240"/>
            <a:ext cx="36576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01" name="update after 1"/>
          <p:cNvSpPr/>
          <p:nvPr/>
        </p:nvSpPr>
        <p:spPr>
          <a:xfrm>
            <a:off x="9125711" y="420624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sp>
        <p:nvSpPr>
          <p:cNvPr id="102" name="update after 2"/>
          <p:cNvSpPr/>
          <p:nvPr/>
        </p:nvSpPr>
        <p:spPr>
          <a:xfrm>
            <a:off x="9537192" y="420624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103" name="update after 3"/>
          <p:cNvSpPr/>
          <p:nvPr/>
        </p:nvSpPr>
        <p:spPr>
          <a:xfrm>
            <a:off x="9948672" y="4206240"/>
            <a:ext cx="365760" cy="365760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sp>
        <p:nvSpPr>
          <p:cNvPr id="104" name="update after 4"/>
          <p:cNvSpPr/>
          <p:nvPr/>
        </p:nvSpPr>
        <p:spPr>
          <a:xfrm>
            <a:off x="10360152" y="4206240"/>
            <a:ext cx="365760" cy="365760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05" name="update label"/>
          <p:cNvSpPr txBox="1"/>
          <p:nvPr/>
        </p:nvSpPr>
        <p:spPr>
          <a:xfrm>
            <a:off x="6035040" y="4754880"/>
            <a:ext cx="469087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Update page on insertion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MERIT cache replacement and update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
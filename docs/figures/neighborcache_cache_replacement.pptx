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96159" cy="5166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图上只保留结构和编号，机制见配套说明。</a:t>
            </a:r>
          </a:p>
          <a:p>
            <a:r>
              <a:t>(1) N-cache 按新旧排成一行，左端 MRU，右端 LRU。y 从 MRU 端进入，p 在 LRU 端，下一次从这里换出，不进入新页。</a:t>
            </a:r>
          </a:p>
          <a:p>
            <a:r>
              <a:t>(2) 一次访问单独记入 M-cache，更新 H 和 W，不是从 N-cache 搬过去。NonSeed LRU 只在元数据满时淘汰条目。</a:t>
            </a:r>
          </a:p>
          <a:p>
            <a:r>
              <a:t>最大堆是仍在 N-cache 中的最热非种子，最小堆是最冷种子。</a:t>
            </a:r>
          </a:p>
          <a:p>
            <a:r>
              <a:t>(3) D-cache 已满且 H(A) &gt; H(B) 时，用 A 替换 B。圆圈只表示堆序。选中后 A 进入 ReadyToInsertion，B 进入 ReadyToDeletion。</a:t>
            </a:r>
          </a:p>
          <a:p>
            <a:r>
              <a:t>Pending 页由 A 和 W(A) 中仍有 payload 的伙伴组成。</a:t>
            </a:r>
          </a:p>
          <a:p>
            <a:r>
              <a:t>(4) 该页进入 commit queue，异步写入。</a:t>
            </a:r>
          </a:p>
          <a:p>
            <a:r>
              <a:t>(5) 写入提交成功后，A 变为 Seed，B 变为 NonSeed。C 的页不变。</a:t>
            </a:r>
          </a:p>
          <a:p>
            <a:r>
              <a:t>(6) x 是 A 的邻居，页已经提交之后才到来，从页外写到 A u v w 的页尾，不是和 u v w 一起生成的。旧成员保留。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-cache title"/>
          <p:cNvSpPr txBox="1"/>
          <p:nvPr/>
        </p:nvSpPr>
        <p:spPr>
          <a:xfrm>
            <a:off x="502920" y="1828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N-cache</a:t>
            </a:r>
          </a:p>
        </p:txBody>
      </p:sp>
      <p:sp>
        <p:nvSpPr>
          <p:cNvPr id="3" name="N-cache A"/>
          <p:cNvSpPr/>
          <p:nvPr/>
        </p:nvSpPr>
        <p:spPr>
          <a:xfrm>
            <a:off x="274320" y="868680"/>
            <a:ext cx="402336" cy="402336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4" name="N-cache u"/>
          <p:cNvSpPr/>
          <p:nvPr/>
        </p:nvSpPr>
        <p:spPr>
          <a:xfrm>
            <a:off x="731520" y="868680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</a:t>
            </a:r>
          </a:p>
        </p:txBody>
      </p:sp>
      <p:sp>
        <p:nvSpPr>
          <p:cNvPr id="5" name="N-cache v"/>
          <p:cNvSpPr/>
          <p:nvPr/>
        </p:nvSpPr>
        <p:spPr>
          <a:xfrm>
            <a:off x="1188720" y="868680"/>
            <a:ext cx="402336" cy="402336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6" name="N-cache w"/>
          <p:cNvSpPr/>
          <p:nvPr/>
        </p:nvSpPr>
        <p:spPr>
          <a:xfrm>
            <a:off x="1645920" y="868680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</a:t>
            </a:r>
          </a:p>
        </p:txBody>
      </p:sp>
      <p:sp>
        <p:nvSpPr>
          <p:cNvPr id="7" name="N-cache p"/>
          <p:cNvSpPr/>
          <p:nvPr/>
        </p:nvSpPr>
        <p:spPr>
          <a:xfrm>
            <a:off x="2468880" y="868680"/>
            <a:ext cx="402336" cy="402336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</a:t>
            </a:r>
          </a:p>
        </p:txBody>
      </p:sp>
      <p:sp>
        <p:nvSpPr>
          <p:cNvPr id="8" name="MRU label"/>
          <p:cNvSpPr txBox="1"/>
          <p:nvPr/>
        </p:nvSpPr>
        <p:spPr>
          <a:xfrm>
            <a:off x="164592" y="603504"/>
            <a:ext cx="62179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MRU</a:t>
            </a:r>
          </a:p>
        </p:txBody>
      </p:sp>
      <p:sp>
        <p:nvSpPr>
          <p:cNvPr id="9" name="LRU label"/>
          <p:cNvSpPr txBox="1"/>
          <p:nvPr/>
        </p:nvSpPr>
        <p:spPr>
          <a:xfrm>
            <a:off x="2359152" y="603504"/>
            <a:ext cx="62179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LRU</a:t>
            </a:r>
          </a:p>
        </p:txBody>
      </p:sp>
      <p:sp>
        <p:nvSpPr>
          <p:cNvPr id="10" name="admit y"/>
          <p:cNvSpPr/>
          <p:nvPr/>
        </p:nvSpPr>
        <p:spPr>
          <a:xfrm>
            <a:off x="274320" y="1627632"/>
            <a:ext cx="36576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</a:t>
            </a:r>
          </a:p>
        </p:txBody>
      </p:sp>
      <p:cxnSp>
        <p:nvCxnSpPr>
          <p:cNvPr id="11" name="admit arrow"/>
          <p:cNvCxnSpPr/>
          <p:nvPr/>
        </p:nvCxnSpPr>
        <p:spPr>
          <a:xfrm flipV="1">
            <a:off x="457200" y="1271016"/>
            <a:ext cx="0" cy="356616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ep 1"/>
          <p:cNvSpPr txBox="1"/>
          <p:nvPr/>
        </p:nvSpPr>
        <p:spPr>
          <a:xfrm>
            <a:off x="749808" y="166420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(1)</a:t>
            </a:r>
          </a:p>
        </p:txBody>
      </p:sp>
      <p:sp>
        <p:nvSpPr>
          <p:cNvPr id="13" name="M-cache title"/>
          <p:cNvSpPr txBox="1"/>
          <p:nvPr/>
        </p:nvSpPr>
        <p:spPr>
          <a:xfrm>
            <a:off x="5897880" y="9144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M-cache</a:t>
            </a:r>
          </a:p>
        </p:txBody>
      </p:sp>
      <p:sp>
        <p:nvSpPr>
          <p:cNvPr id="14" name="access z"/>
          <p:cNvSpPr/>
          <p:nvPr/>
        </p:nvSpPr>
        <p:spPr>
          <a:xfrm>
            <a:off x="4617720" y="201168"/>
            <a:ext cx="36576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</a:t>
            </a:r>
          </a:p>
        </p:txBody>
      </p:sp>
      <p:sp>
        <p:nvSpPr>
          <p:cNvPr id="15" name="step 2"/>
          <p:cNvSpPr txBox="1"/>
          <p:nvPr/>
        </p:nvSpPr>
        <p:spPr>
          <a:xfrm>
            <a:off x="5029200" y="146304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(2)</a:t>
            </a:r>
          </a:p>
        </p:txBody>
      </p:sp>
      <p:cxnSp>
        <p:nvCxnSpPr>
          <p:cNvPr id="16" name="access to mcache"/>
          <p:cNvCxnSpPr/>
          <p:nvPr/>
        </p:nvCxnSpPr>
        <p:spPr>
          <a:xfrm>
            <a:off x="4983480" y="438912"/>
            <a:ext cx="886968" cy="429768"/>
          </a:xfrm>
          <a:prstGeom prst="line">
            <a:avLst/>
          </a:prstGeom>
          <a:ln w="15875">
            <a:solidFill>
              <a:srgbClr val="1F5F8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M-cache table"/>
          <p:cNvGraphicFramePr>
            <a:graphicFrameLocks noGrp="1"/>
          </p:cNvGraphicFramePr>
          <p:nvPr/>
        </p:nvGraphicFramePr>
        <p:xfrm>
          <a:off x="5897880" y="475488"/>
          <a:ext cx="3108958" cy="1170432"/>
        </p:xfrm>
        <a:graphic>
          <a:graphicData uri="http://schemas.openxmlformats.org/drawingml/2006/table">
            <a:tbl>
              <a:tblPr firstRow="1" bandRow="1"/>
              <a:tblGrid>
                <a:gridCol w="559612"/>
                <a:gridCol w="497433"/>
                <a:gridCol w="2051913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12700" cap="flat" cmpd="sng" algn="ctr">
                      <a:solidFill>
                        <a:srgbClr val="222222"/>
                      </a:solidFill>
                    </a:lnL>
                    <a:lnR w="12700" cap="flat" cmpd="sng" algn="ctr">
                      <a:solidFill>
                        <a:srgbClr val="222222"/>
                      </a:solidFill>
                    </a:lnR>
                    <a:lnT w="12700" cap="flat" cmpd="sng" algn="ctr">
                      <a:solidFill>
                        <a:srgbClr val="222222"/>
                      </a:solidFill>
                    </a:lnT>
                    <a:lnB w="12700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H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12700" cap="flat" cmpd="sng" algn="ctr">
                      <a:solidFill>
                        <a:srgbClr val="222222"/>
                      </a:solidFill>
                    </a:lnL>
                    <a:lnR w="12700" cap="flat" cmpd="sng" algn="ctr">
                      <a:solidFill>
                        <a:srgbClr val="222222"/>
                      </a:solidFill>
                    </a:lnR>
                    <a:lnT w="12700" cap="flat" cmpd="sng" algn="ctr">
                      <a:solidFill>
                        <a:srgbClr val="222222"/>
                      </a:solidFill>
                    </a:lnT>
                    <a:lnB w="12700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W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12700" cap="flat" cmpd="sng" algn="ctr">
                      <a:solidFill>
                        <a:srgbClr val="222222"/>
                      </a:solidFill>
                    </a:lnL>
                    <a:lnR w="12700" cap="flat" cmpd="sng" algn="ctr">
                      <a:solidFill>
                        <a:srgbClr val="222222"/>
                      </a:solidFill>
                    </a:lnR>
                    <a:lnT w="12700" cap="flat" cmpd="sng" algn="ctr">
                      <a:solidFill>
                        <a:srgbClr val="222222"/>
                      </a:solidFill>
                    </a:lnT>
                    <a:lnB w="12700" cap="flat" cmpd="sng" algn="ctr">
                      <a:solidFill>
                        <a:srgbClr val="222222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u:6,  v:4,  w:3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r:3,  s:2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…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…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…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  <a:lnL w="9525" cap="flat" cmpd="sng" algn="ctr">
                      <a:solidFill>
                        <a:srgbClr val="222222"/>
                      </a:solidFill>
                    </a:lnL>
                    <a:lnR w="9525" cap="flat" cmpd="sng" algn="ctr">
                      <a:solidFill>
                        <a:srgbClr val="222222"/>
                      </a:solidFill>
                    </a:lnR>
                    <a:lnT w="9525" cap="flat" cmpd="sng" algn="ctr">
                      <a:solidFill>
                        <a:srgbClr val="222222"/>
                      </a:solidFill>
                    </a:lnT>
                    <a:lnB w="9525" cap="flat" cmpd="sng" algn="ctr">
                      <a:solidFill>
                        <a:srgbClr val="22222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NonSeed LRU box"/>
          <p:cNvSpPr/>
          <p:nvPr/>
        </p:nvSpPr>
        <p:spPr>
          <a:xfrm>
            <a:off x="6263640" y="1755648"/>
            <a:ext cx="2377440" cy="365760"/>
          </a:xfrm>
          <a:prstGeom prst="roundRect">
            <a:avLst>
              <a:gd name="adj" fmla="val 18000"/>
            </a:avLst>
          </a:prstGeom>
          <a:solidFill>
            <a:srgbClr val="F3F6F8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NonSeed LRU"/>
          <p:cNvSpPr txBox="1"/>
          <p:nvPr/>
        </p:nvSpPr>
        <p:spPr>
          <a:xfrm>
            <a:off x="6309360" y="179222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NonSeed LRU</a:t>
            </a:r>
          </a:p>
        </p:txBody>
      </p:sp>
      <p:cxnSp>
        <p:nvCxnSpPr>
          <p:cNvPr id="20" name="H to max"/>
          <p:cNvCxnSpPr/>
          <p:nvPr/>
        </p:nvCxnSpPr>
        <p:spPr>
          <a:xfrm>
            <a:off x="5989320" y="1645920"/>
            <a:ext cx="0" cy="1536192"/>
          </a:xfrm>
          <a:prstGeom prst="line">
            <a:avLst/>
          </a:prstGeom>
          <a:ln w="15875">
            <a:solidFill>
              <a:srgbClr val="1F5F8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H label"/>
          <p:cNvSpPr txBox="1"/>
          <p:nvPr/>
        </p:nvSpPr>
        <p:spPr>
          <a:xfrm>
            <a:off x="5623560" y="2331720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H</a:t>
            </a:r>
          </a:p>
        </p:txBody>
      </p:sp>
      <p:cxnSp>
        <p:nvCxnSpPr>
          <p:cNvPr id="22" name="H to min jog"/>
          <p:cNvCxnSpPr/>
          <p:nvPr/>
        </p:nvCxnSpPr>
        <p:spPr>
          <a:xfrm>
            <a:off x="9006840" y="1060704"/>
            <a:ext cx="118872" cy="0"/>
          </a:xfrm>
          <a:prstGeom prst="line">
            <a:avLst/>
          </a:prstGeom>
          <a:ln w="15875">
            <a:solidFill>
              <a:srgbClr val="1F5F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H to min down"/>
          <p:cNvCxnSpPr/>
          <p:nvPr/>
        </p:nvCxnSpPr>
        <p:spPr>
          <a:xfrm>
            <a:off x="9125712" y="1060704"/>
            <a:ext cx="0" cy="2121408"/>
          </a:xfrm>
          <a:prstGeom prst="line">
            <a:avLst/>
          </a:prstGeom>
          <a:ln w="15875">
            <a:solidFill>
              <a:srgbClr val="1F5F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H to min"/>
          <p:cNvCxnSpPr/>
          <p:nvPr/>
        </p:nvCxnSpPr>
        <p:spPr>
          <a:xfrm flipH="1">
            <a:off x="8366760" y="3182112"/>
            <a:ext cx="758952" cy="0"/>
          </a:xfrm>
          <a:prstGeom prst="line">
            <a:avLst/>
          </a:prstGeom>
          <a:ln w="15875">
            <a:solidFill>
              <a:srgbClr val="1F5F8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Max label"/>
          <p:cNvSpPr txBox="1"/>
          <p:nvPr/>
        </p:nvSpPr>
        <p:spPr>
          <a:xfrm>
            <a:off x="5074920" y="294436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Max</a:t>
            </a:r>
          </a:p>
        </p:txBody>
      </p:sp>
      <p:sp>
        <p:nvSpPr>
          <p:cNvPr id="26" name="max root A"/>
          <p:cNvSpPr/>
          <p:nvPr/>
        </p:nvSpPr>
        <p:spPr>
          <a:xfrm>
            <a:off x="5623560" y="3182112"/>
            <a:ext cx="420624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Min label"/>
          <p:cNvSpPr txBox="1"/>
          <p:nvPr/>
        </p:nvSpPr>
        <p:spPr>
          <a:xfrm>
            <a:off x="8366760" y="27249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Min</a:t>
            </a:r>
          </a:p>
        </p:txBody>
      </p:sp>
      <p:sp>
        <p:nvSpPr>
          <p:cNvPr id="28" name="min root B"/>
          <p:cNvSpPr/>
          <p:nvPr/>
        </p:nvSpPr>
        <p:spPr>
          <a:xfrm>
            <a:off x="7818120" y="3182112"/>
            <a:ext cx="420624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29" name="heap D"/>
          <p:cNvSpPr/>
          <p:nvPr/>
        </p:nvSpPr>
        <p:spPr>
          <a:xfrm>
            <a:off x="5367528" y="3877056"/>
            <a:ext cx="329184" cy="329184"/>
          </a:xfrm>
          <a:prstGeom prst="ellipse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30" name="heap E"/>
          <p:cNvSpPr/>
          <p:nvPr/>
        </p:nvSpPr>
        <p:spPr>
          <a:xfrm>
            <a:off x="6035040" y="3877056"/>
            <a:ext cx="329184" cy="329184"/>
          </a:xfrm>
          <a:prstGeom prst="ellipse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1" name="heap C"/>
          <p:cNvSpPr/>
          <p:nvPr/>
        </p:nvSpPr>
        <p:spPr>
          <a:xfrm>
            <a:off x="7562088" y="3877056"/>
            <a:ext cx="329184" cy="329184"/>
          </a:xfrm>
          <a:prstGeom prst="ellipse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32" name="heap F"/>
          <p:cNvSpPr/>
          <p:nvPr/>
        </p:nvSpPr>
        <p:spPr>
          <a:xfrm>
            <a:off x="8229600" y="3877056"/>
            <a:ext cx="329184" cy="329184"/>
          </a:xfrm>
          <a:prstGeom prst="ellipse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</a:t>
            </a:r>
          </a:p>
        </p:txBody>
      </p:sp>
      <p:cxnSp>
        <p:nvCxnSpPr>
          <p:cNvPr id="33" name="heap A-D"/>
          <p:cNvCxnSpPr/>
          <p:nvPr/>
        </p:nvCxnSpPr>
        <p:spPr>
          <a:xfrm flipH="1">
            <a:off x="5532120" y="3602736"/>
            <a:ext cx="301752" cy="2743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heap A-E"/>
          <p:cNvCxnSpPr/>
          <p:nvPr/>
        </p:nvCxnSpPr>
        <p:spPr>
          <a:xfrm>
            <a:off x="5833872" y="3602736"/>
            <a:ext cx="365760" cy="2743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heap B-C"/>
          <p:cNvCxnSpPr/>
          <p:nvPr/>
        </p:nvCxnSpPr>
        <p:spPr>
          <a:xfrm flipH="1">
            <a:off x="7726679" y="3602736"/>
            <a:ext cx="301752" cy="2743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heap B-F"/>
          <p:cNvCxnSpPr/>
          <p:nvPr/>
        </p:nvCxnSpPr>
        <p:spPr>
          <a:xfrm>
            <a:off x="8028431" y="3602736"/>
            <a:ext cx="365761" cy="2743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tep 3"/>
          <p:cNvSpPr txBox="1"/>
          <p:nvPr/>
        </p:nvSpPr>
        <p:spPr>
          <a:xfrm>
            <a:off x="6263640" y="285292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(3)</a:t>
            </a:r>
          </a:p>
        </p:txBody>
      </p:sp>
      <p:sp>
        <p:nvSpPr>
          <p:cNvPr id="38" name="heap condition"/>
          <p:cNvSpPr txBox="1"/>
          <p:nvPr/>
        </p:nvSpPr>
        <p:spPr>
          <a:xfrm>
            <a:off x="6053328" y="3273552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H(A) &gt; H(B)</a:t>
            </a:r>
          </a:p>
        </p:txBody>
      </p:sp>
      <p:sp>
        <p:nvSpPr>
          <p:cNvPr id="39" name="D-cache title"/>
          <p:cNvSpPr txBox="1"/>
          <p:nvPr/>
        </p:nvSpPr>
        <p:spPr>
          <a:xfrm>
            <a:off x="10332720" y="109728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D-cache</a:t>
            </a:r>
          </a:p>
        </p:txBody>
      </p:sp>
      <p:sp>
        <p:nvSpPr>
          <p:cNvPr id="40" name="Before label"/>
          <p:cNvSpPr txBox="1"/>
          <p:nvPr/>
        </p:nvSpPr>
        <p:spPr>
          <a:xfrm>
            <a:off x="9281160" y="4754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Before</a:t>
            </a:r>
          </a:p>
        </p:txBody>
      </p:sp>
      <p:sp>
        <p:nvSpPr>
          <p:cNvPr id="41" name="After label"/>
          <p:cNvSpPr txBox="1"/>
          <p:nvPr/>
        </p:nvSpPr>
        <p:spPr>
          <a:xfrm>
            <a:off x="11795760" y="4754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After</a:t>
            </a:r>
          </a:p>
        </p:txBody>
      </p:sp>
      <p:sp>
        <p:nvSpPr>
          <p:cNvPr id="42" name="before B"/>
          <p:cNvSpPr/>
          <p:nvPr/>
        </p:nvSpPr>
        <p:spPr>
          <a:xfrm>
            <a:off x="9326880" y="731520"/>
            <a:ext cx="402336" cy="402336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43" name="before r"/>
          <p:cNvSpPr/>
          <p:nvPr/>
        </p:nvSpPr>
        <p:spPr>
          <a:xfrm>
            <a:off x="9784080" y="731520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44" name="before s"/>
          <p:cNvSpPr/>
          <p:nvPr/>
        </p:nvSpPr>
        <p:spPr>
          <a:xfrm>
            <a:off x="10241280" y="731520"/>
            <a:ext cx="402336" cy="402336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sp>
        <p:nvSpPr>
          <p:cNvPr id="45" name="before t"/>
          <p:cNvSpPr/>
          <p:nvPr/>
        </p:nvSpPr>
        <p:spPr>
          <a:xfrm>
            <a:off x="10698480" y="731520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46" name="after A"/>
          <p:cNvSpPr/>
          <p:nvPr/>
        </p:nvSpPr>
        <p:spPr>
          <a:xfrm>
            <a:off x="11795760" y="731520"/>
            <a:ext cx="402336" cy="402336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47" name="after u"/>
          <p:cNvSpPr/>
          <p:nvPr/>
        </p:nvSpPr>
        <p:spPr>
          <a:xfrm>
            <a:off x="12252960" y="731520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</a:t>
            </a:r>
          </a:p>
        </p:txBody>
      </p:sp>
      <p:sp>
        <p:nvSpPr>
          <p:cNvPr id="48" name="after v"/>
          <p:cNvSpPr/>
          <p:nvPr/>
        </p:nvSpPr>
        <p:spPr>
          <a:xfrm>
            <a:off x="12710160" y="731520"/>
            <a:ext cx="402336" cy="402336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49" name="after w"/>
          <p:cNvSpPr/>
          <p:nvPr/>
        </p:nvSpPr>
        <p:spPr>
          <a:xfrm>
            <a:off x="13167360" y="731520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</a:t>
            </a:r>
          </a:p>
        </p:txBody>
      </p:sp>
      <p:cxnSp>
        <p:nvCxnSpPr>
          <p:cNvPr id="50" name="before to after"/>
          <p:cNvCxnSpPr/>
          <p:nvPr/>
        </p:nvCxnSpPr>
        <p:spPr>
          <a:xfrm>
            <a:off x="11192255" y="932688"/>
            <a:ext cx="530353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later x"/>
          <p:cNvSpPr/>
          <p:nvPr/>
        </p:nvSpPr>
        <p:spPr>
          <a:xfrm>
            <a:off x="13716000" y="1261872"/>
            <a:ext cx="36576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52" name="step 6"/>
          <p:cNvSpPr txBox="1"/>
          <p:nvPr/>
        </p:nvSpPr>
        <p:spPr>
          <a:xfrm>
            <a:off x="11978640" y="12070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(6)</a:t>
            </a:r>
          </a:p>
        </p:txBody>
      </p:sp>
      <p:sp>
        <p:nvSpPr>
          <p:cNvPr id="53" name="later insert"/>
          <p:cNvSpPr txBox="1"/>
          <p:nvPr/>
        </p:nvSpPr>
        <p:spPr>
          <a:xfrm>
            <a:off x="12390120" y="117043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后续插入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 的邻居</a:t>
            </a:r>
          </a:p>
        </p:txBody>
      </p:sp>
      <p:cxnSp>
        <p:nvCxnSpPr>
          <p:cNvPr id="54" name="x appended later"/>
          <p:cNvCxnSpPr/>
          <p:nvPr/>
        </p:nvCxnSpPr>
        <p:spPr>
          <a:xfrm flipH="1" flipV="1">
            <a:off x="13624560" y="1078992"/>
            <a:ext cx="91440" cy="310896"/>
          </a:xfrm>
          <a:prstGeom prst="line">
            <a:avLst/>
          </a:prstGeom>
          <a:ln w="15875">
            <a:solidFill>
              <a:srgbClr val="1F5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before C C"/>
          <p:cNvSpPr/>
          <p:nvPr/>
        </p:nvSpPr>
        <p:spPr>
          <a:xfrm>
            <a:off x="9326880" y="1938528"/>
            <a:ext cx="402336" cy="402336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56" name="before C j"/>
          <p:cNvSpPr/>
          <p:nvPr/>
        </p:nvSpPr>
        <p:spPr>
          <a:xfrm>
            <a:off x="9784080" y="1938528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</a:t>
            </a:r>
          </a:p>
        </p:txBody>
      </p:sp>
      <p:sp>
        <p:nvSpPr>
          <p:cNvPr id="57" name="before C k"/>
          <p:cNvSpPr/>
          <p:nvPr/>
        </p:nvSpPr>
        <p:spPr>
          <a:xfrm>
            <a:off x="10241280" y="1938528"/>
            <a:ext cx="402336" cy="402336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</a:t>
            </a:r>
          </a:p>
        </p:txBody>
      </p:sp>
      <p:sp>
        <p:nvSpPr>
          <p:cNvPr id="58" name="before C l"/>
          <p:cNvSpPr/>
          <p:nvPr/>
        </p:nvSpPr>
        <p:spPr>
          <a:xfrm>
            <a:off x="10698480" y="1938528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</a:t>
            </a:r>
          </a:p>
        </p:txBody>
      </p:sp>
      <p:sp>
        <p:nvSpPr>
          <p:cNvPr id="59" name="after C C"/>
          <p:cNvSpPr/>
          <p:nvPr/>
        </p:nvSpPr>
        <p:spPr>
          <a:xfrm>
            <a:off x="11795760" y="1938528"/>
            <a:ext cx="402336" cy="402336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60" name="after C j"/>
          <p:cNvSpPr/>
          <p:nvPr/>
        </p:nvSpPr>
        <p:spPr>
          <a:xfrm>
            <a:off x="12252960" y="1938528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</a:t>
            </a:r>
          </a:p>
        </p:txBody>
      </p:sp>
      <p:sp>
        <p:nvSpPr>
          <p:cNvPr id="61" name="after C k"/>
          <p:cNvSpPr/>
          <p:nvPr/>
        </p:nvSpPr>
        <p:spPr>
          <a:xfrm>
            <a:off x="12710160" y="1938528"/>
            <a:ext cx="402336" cy="402336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</a:t>
            </a:r>
          </a:p>
        </p:txBody>
      </p:sp>
      <p:sp>
        <p:nvSpPr>
          <p:cNvPr id="62" name="after C l"/>
          <p:cNvSpPr/>
          <p:nvPr/>
        </p:nvSpPr>
        <p:spPr>
          <a:xfrm>
            <a:off x="13167360" y="1938528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</a:t>
            </a:r>
          </a:p>
        </p:txBody>
      </p:sp>
      <p:cxnSp>
        <p:nvCxnSpPr>
          <p:cNvPr id="63" name="C unchanged"/>
          <p:cNvCxnSpPr/>
          <p:nvPr/>
        </p:nvCxnSpPr>
        <p:spPr>
          <a:xfrm>
            <a:off x="11192255" y="2139696"/>
            <a:ext cx="530353" cy="0"/>
          </a:xfrm>
          <a:prstGeom prst="line">
            <a:avLst/>
          </a:prstGeom>
          <a:ln w="15875">
            <a:solidFill>
              <a:srgbClr val="3F3F3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ending label"/>
          <p:cNvSpPr txBox="1"/>
          <p:nvPr/>
        </p:nvSpPr>
        <p:spPr>
          <a:xfrm>
            <a:off x="9326880" y="248716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Pending</a:t>
            </a:r>
          </a:p>
        </p:txBody>
      </p:sp>
      <p:sp>
        <p:nvSpPr>
          <p:cNvPr id="65" name="pending A"/>
          <p:cNvSpPr/>
          <p:nvPr/>
        </p:nvSpPr>
        <p:spPr>
          <a:xfrm>
            <a:off x="10424160" y="2450592"/>
            <a:ext cx="402336" cy="402336"/>
          </a:xfrm>
          <a:prstGeom prst="rect">
            <a:avLst/>
          </a:prstGeom>
          <a:solidFill>
            <a:srgbClr val="2A2A2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66" name="pending u"/>
          <p:cNvSpPr/>
          <p:nvPr/>
        </p:nvSpPr>
        <p:spPr>
          <a:xfrm>
            <a:off x="10881360" y="2450592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</a:t>
            </a:r>
          </a:p>
        </p:txBody>
      </p:sp>
      <p:sp>
        <p:nvSpPr>
          <p:cNvPr id="67" name="pending v"/>
          <p:cNvSpPr/>
          <p:nvPr/>
        </p:nvSpPr>
        <p:spPr>
          <a:xfrm>
            <a:off x="11338560" y="2450592"/>
            <a:ext cx="402336" cy="402336"/>
          </a:xfrm>
          <a:prstGeom prst="rect">
            <a:avLst/>
          </a:prstGeom>
          <a:solidFill>
            <a:srgbClr val="CFCFC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68" name="pending w"/>
          <p:cNvSpPr/>
          <p:nvPr/>
        </p:nvSpPr>
        <p:spPr>
          <a:xfrm>
            <a:off x="11795760" y="2450592"/>
            <a:ext cx="402336" cy="402336"/>
          </a:xfrm>
          <a:prstGeom prst="rect">
            <a:avLst/>
          </a:prstGeom>
          <a:solidFill>
            <a:srgbClr val="E4E4E4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</a:t>
            </a:r>
          </a:p>
        </p:txBody>
      </p:sp>
      <p:cxnSp>
        <p:nvCxnSpPr>
          <p:cNvPr id="69" name="pending to queue"/>
          <p:cNvCxnSpPr/>
          <p:nvPr/>
        </p:nvCxnSpPr>
        <p:spPr>
          <a:xfrm>
            <a:off x="11338560" y="2889504"/>
            <a:ext cx="0" cy="219456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ommit 1"/>
          <p:cNvSpPr/>
          <p:nvPr/>
        </p:nvSpPr>
        <p:spPr>
          <a:xfrm>
            <a:off x="10424160" y="3108960"/>
            <a:ext cx="4023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1" name="commit 2"/>
          <p:cNvSpPr/>
          <p:nvPr/>
        </p:nvSpPr>
        <p:spPr>
          <a:xfrm>
            <a:off x="10881360" y="3108960"/>
            <a:ext cx="4023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2" name="commit 3"/>
          <p:cNvSpPr/>
          <p:nvPr/>
        </p:nvSpPr>
        <p:spPr>
          <a:xfrm>
            <a:off x="11338560" y="3108960"/>
            <a:ext cx="4023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3" name="commit 4"/>
          <p:cNvSpPr/>
          <p:nvPr/>
        </p:nvSpPr>
        <p:spPr>
          <a:xfrm>
            <a:off x="11795760" y="3108960"/>
            <a:ext cx="4023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4" name="Commit queue label"/>
          <p:cNvSpPr txBox="1"/>
          <p:nvPr/>
        </p:nvSpPr>
        <p:spPr>
          <a:xfrm>
            <a:off x="10424160" y="35478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Commit queue</a:t>
            </a:r>
          </a:p>
        </p:txBody>
      </p:sp>
      <p:cxnSp>
        <p:nvCxnSpPr>
          <p:cNvPr id="75" name="heap to commit"/>
          <p:cNvCxnSpPr/>
          <p:nvPr/>
        </p:nvCxnSpPr>
        <p:spPr>
          <a:xfrm flipV="1">
            <a:off x="8732520" y="3310128"/>
            <a:ext cx="1618488" cy="9144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step 4"/>
          <p:cNvSpPr txBox="1"/>
          <p:nvPr/>
        </p:nvSpPr>
        <p:spPr>
          <a:xfrm>
            <a:off x="9189720" y="318211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(4)</a:t>
            </a:r>
          </a:p>
        </p:txBody>
      </p:sp>
      <p:cxnSp>
        <p:nvCxnSpPr>
          <p:cNvPr id="77" name="async horizontal"/>
          <p:cNvCxnSpPr/>
          <p:nvPr/>
        </p:nvCxnSpPr>
        <p:spPr>
          <a:xfrm>
            <a:off x="12252960" y="3310128"/>
            <a:ext cx="210312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async vertical"/>
          <p:cNvCxnSpPr/>
          <p:nvPr/>
        </p:nvCxnSpPr>
        <p:spPr>
          <a:xfrm flipV="1">
            <a:off x="14356080" y="932688"/>
            <a:ext cx="0" cy="23774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async into after"/>
          <p:cNvCxnSpPr/>
          <p:nvPr/>
        </p:nvCxnSpPr>
        <p:spPr>
          <a:xfrm flipH="1">
            <a:off x="13587984" y="932688"/>
            <a:ext cx="768096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async write label"/>
          <p:cNvSpPr txBox="1"/>
          <p:nvPr/>
        </p:nvSpPr>
        <p:spPr>
          <a:xfrm>
            <a:off x="14429232" y="2011680"/>
            <a:ext cx="53035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Async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write</a:t>
            </a:r>
          </a:p>
        </p:txBody>
      </p:sp>
      <p:sp>
        <p:nvSpPr>
          <p:cNvPr id="81" name="step 5"/>
          <p:cNvSpPr txBox="1"/>
          <p:nvPr/>
        </p:nvSpPr>
        <p:spPr>
          <a:xfrm>
            <a:off x="13670280" y="45720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F8B"/>
                </a:solidFill>
                <a:latin typeface="Calibri"/>
                <a:ea typeface="Calibri"/>
                <a:cs typeface="Calibri"/>
              </a:rPr>
              <a:t>(5)</a:t>
            </a:r>
          </a:p>
        </p:txBody>
      </p:sp>
      <p:sp>
        <p:nvSpPr>
          <p:cNvPr id="82" name="figure title"/>
          <p:cNvSpPr txBox="1"/>
          <p:nvPr/>
        </p:nvSpPr>
        <p:spPr>
          <a:xfrm>
            <a:off x="3200400" y="4709160"/>
            <a:ext cx="85953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MERIT cache replacement and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MERIT cache replacement and update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
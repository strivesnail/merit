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426950" cy="65754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96520"/>
            <a:ext cx="132715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Calibri"/>
              </a:rPr>
              <a:t>N-cache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5525" y="482600"/>
            <a:ext cx="542925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LRU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9980" y="748030"/>
            <a:ext cx="38608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z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980" y="1194435"/>
            <a:ext cx="38608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v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9980" y="1640840"/>
            <a:ext cx="38608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u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9980" y="2087245"/>
            <a:ext cx="386080" cy="361950"/>
          </a:xfrm>
          <a:prstGeom prst="rect">
            <a:avLst/>
          </a:prstGeom>
          <a:solidFill>
            <a:srgbClr val="1A1A1A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1109980" y="2533650"/>
            <a:ext cx="38608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980" y="2931795"/>
            <a:ext cx="386080" cy="2654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Calibri"/>
              </a:rPr>
              <a:t>⋮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9980" y="3281680"/>
            <a:ext cx="386080" cy="361950"/>
          </a:xfrm>
          <a:prstGeom prst="rect">
            <a:avLst/>
          </a:prstGeom>
          <a:solidFill>
            <a:srgbClr val="C8C8C8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09980" y="3281680"/>
            <a:ext cx="386080" cy="361950"/>
          </a:xfrm>
          <a:prstGeom prst="line">
            <a:avLst/>
          </a:prstGeom>
          <a:ln w="19050">
            <a:solidFill>
              <a:srgbClr val="6F8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109980" y="3281680"/>
            <a:ext cx="386080" cy="361950"/>
          </a:xfrm>
          <a:prstGeom prst="line">
            <a:avLst/>
          </a:prstGeom>
          <a:ln w="19050">
            <a:solidFill>
              <a:srgbClr val="6F8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0975" y="929005"/>
            <a:ext cx="904875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2600" y="699770"/>
            <a:ext cx="36195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5C8A"/>
                </a:solidFill>
                <a:latin typeface="Calibri"/>
              </a:rPr>
              <a:t>(1)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71240" y="2195830"/>
            <a:ext cx="1809750" cy="579120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43630" y="2304415"/>
            <a:ext cx="386080" cy="361950"/>
          </a:xfrm>
          <a:prstGeom prst="rect">
            <a:avLst/>
          </a:prstGeom>
          <a:solidFill>
            <a:srgbClr val="1A1A1A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77970" y="2304415"/>
            <a:ext cx="38608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12310" y="2304415"/>
            <a:ext cx="386080" cy="361950"/>
          </a:xfrm>
          <a:prstGeom prst="rect">
            <a:avLst/>
          </a:prstGeom>
          <a:solidFill>
            <a:srgbClr val="C8C8C8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46650" y="2304415"/>
            <a:ext cx="38608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96060" y="929005"/>
            <a:ext cx="2123440" cy="1556385"/>
          </a:xfrm>
          <a:prstGeom prst="curvedConnector3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96060" y="1375410"/>
            <a:ext cx="2123440" cy="1109980"/>
          </a:xfrm>
          <a:prstGeom prst="curvedConnector3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96060" y="2268220"/>
            <a:ext cx="2123440" cy="217170"/>
          </a:xfrm>
          <a:prstGeom prst="curvedConnector3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496060" y="2485390"/>
            <a:ext cx="2123440" cy="229235"/>
          </a:xfrm>
          <a:prstGeom prst="curvedConnector3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12770" y="1930400"/>
            <a:ext cx="36195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5C8A"/>
                </a:solidFill>
                <a:latin typeface="Calibri"/>
              </a:rPr>
              <a:t>(5)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92350" y="2992120"/>
            <a:ext cx="2473325" cy="0"/>
          </a:xfrm>
          <a:prstGeom prst="line">
            <a:avLst/>
          </a:prstGeom>
          <a:ln w="1587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292350" y="3426460"/>
            <a:ext cx="2473325" cy="0"/>
          </a:xfrm>
          <a:prstGeom prst="line">
            <a:avLst/>
          </a:prstGeom>
          <a:ln w="1587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352675" y="3040380"/>
            <a:ext cx="361950" cy="337820"/>
          </a:xfrm>
          <a:prstGeom prst="rect">
            <a:avLst/>
          </a:prstGeom>
          <a:solidFill>
            <a:srgbClr val="C6D9F0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50820" y="3040380"/>
            <a:ext cx="361950" cy="33782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48965" y="3040380"/>
            <a:ext cx="361950" cy="33782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47110" y="3040380"/>
            <a:ext cx="361950" cy="33782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45255" y="3040380"/>
            <a:ext cx="361950" cy="33782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3040380"/>
            <a:ext cx="361950" cy="337820"/>
          </a:xfrm>
          <a:prstGeom prst="rect">
            <a:avLst/>
          </a:prstGeom>
          <a:solidFill>
            <a:srgbClr val="C8C8C8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>
            <a:off x="2352675" y="2774950"/>
            <a:ext cx="1218565" cy="265430"/>
          </a:xfrm>
          <a:prstGeom prst="line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714625" y="2774950"/>
            <a:ext cx="2666365" cy="265430"/>
          </a:xfrm>
          <a:prstGeom prst="line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54300" y="3522980"/>
            <a:ext cx="1749425" cy="0"/>
          </a:xfrm>
          <a:prstGeom prst="line">
            <a:avLst/>
          </a:prstGeom>
          <a:ln w="127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292350" y="3595370"/>
            <a:ext cx="2473325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Commit queue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2925" y="3981450"/>
            <a:ext cx="10737850" cy="0"/>
          </a:xfrm>
          <a:prstGeom prst="line">
            <a:avLst/>
          </a:prstGeom>
          <a:ln w="22225">
            <a:solidFill>
              <a:srgbClr val="2E5C8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68925" y="4077970"/>
            <a:ext cx="1568450" cy="3136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Calibri"/>
              </a:rPr>
              <a:t>D-cache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950" y="4488180"/>
            <a:ext cx="7239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Page1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06500" y="4488180"/>
            <a:ext cx="410210" cy="361950"/>
          </a:xfrm>
          <a:prstGeom prst="rect">
            <a:avLst/>
          </a:prstGeom>
          <a:solidFill>
            <a:srgbClr val="1A1A1A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64970" y="4488180"/>
            <a:ext cx="41021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23440" y="4488180"/>
            <a:ext cx="410210" cy="361950"/>
          </a:xfrm>
          <a:prstGeom prst="rect">
            <a:avLst/>
          </a:prstGeom>
          <a:solidFill>
            <a:srgbClr val="C8C8C8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81910" y="4488180"/>
            <a:ext cx="41021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064510" y="4669155"/>
            <a:ext cx="43434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595370" y="4488180"/>
            <a:ext cx="410210" cy="361950"/>
          </a:xfrm>
          <a:prstGeom prst="rect">
            <a:avLst/>
          </a:prstGeom>
          <a:solidFill>
            <a:srgbClr val="1A1A1A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53840" y="4488180"/>
            <a:ext cx="41021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z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12310" y="4488180"/>
            <a:ext cx="410210" cy="361950"/>
          </a:xfrm>
          <a:prstGeom prst="rect">
            <a:avLst/>
          </a:prstGeom>
          <a:solidFill>
            <a:srgbClr val="C8C8C8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v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70780" y="4488180"/>
            <a:ext cx="41021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950" y="5067300"/>
            <a:ext cx="7239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Page2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06500" y="5067300"/>
            <a:ext cx="410210" cy="361950"/>
          </a:xfrm>
          <a:prstGeom prst="rect">
            <a:avLst/>
          </a:prstGeom>
          <a:solidFill>
            <a:srgbClr val="1A1A1A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64970" y="5067300"/>
            <a:ext cx="41021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j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23440" y="5067300"/>
            <a:ext cx="410210" cy="361950"/>
          </a:xfrm>
          <a:prstGeom prst="rect">
            <a:avLst/>
          </a:prstGeom>
          <a:solidFill>
            <a:srgbClr val="C8C8C8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81910" y="5067300"/>
            <a:ext cx="41021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l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064510" y="5248275"/>
            <a:ext cx="43434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3595370" y="5067300"/>
            <a:ext cx="410210" cy="361950"/>
          </a:xfrm>
          <a:prstGeom prst="rect">
            <a:avLst/>
          </a:prstGeom>
          <a:solidFill>
            <a:srgbClr val="1A1A1A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53840" y="5067300"/>
            <a:ext cx="41021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j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12310" y="5067300"/>
            <a:ext cx="410210" cy="361950"/>
          </a:xfrm>
          <a:prstGeom prst="rect">
            <a:avLst/>
          </a:prstGeom>
          <a:solidFill>
            <a:srgbClr val="C8C8C8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70780" y="5067300"/>
            <a:ext cx="41021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1950" y="5574030"/>
            <a:ext cx="72390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Pagen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06500" y="5574030"/>
            <a:ext cx="180975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5370" y="5574030"/>
            <a:ext cx="180975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47800" y="5984240"/>
            <a:ext cx="1327150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Before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81450" y="5984240"/>
            <a:ext cx="1085850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After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524375" y="3426460"/>
            <a:ext cx="0" cy="103759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572635" y="4041775"/>
            <a:ext cx="36195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5C8A"/>
                </a:solidFill>
                <a:latin typeface="Calibri"/>
              </a:rPr>
              <a:t>(6)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2825" y="5815330"/>
            <a:ext cx="410210" cy="361950"/>
          </a:xfrm>
          <a:prstGeom prst="rect">
            <a:avLst/>
          </a:prstGeom>
          <a:solidFill>
            <a:srgbClr val="1A1A1A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51295" y="5815330"/>
            <a:ext cx="41021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z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09765" y="5815330"/>
            <a:ext cx="410210" cy="361950"/>
          </a:xfrm>
          <a:prstGeom prst="rect">
            <a:avLst/>
          </a:prstGeom>
          <a:solidFill>
            <a:srgbClr val="C8C8C8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v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68235" y="5815330"/>
            <a:ext cx="41021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26705" y="5815330"/>
            <a:ext cx="2413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Calibri"/>
              </a:rPr>
              <a:t>+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8330" y="5815330"/>
            <a:ext cx="41021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x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735060" y="5996305"/>
            <a:ext cx="33782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9169400" y="5815330"/>
            <a:ext cx="410210" cy="361950"/>
          </a:xfrm>
          <a:prstGeom prst="rect">
            <a:avLst/>
          </a:prstGeom>
          <a:solidFill>
            <a:srgbClr val="1A1A1A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27870" y="5815330"/>
            <a:ext cx="41021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z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86340" y="5815330"/>
            <a:ext cx="410210" cy="361950"/>
          </a:xfrm>
          <a:prstGeom prst="rect">
            <a:avLst/>
          </a:prstGeom>
          <a:solidFill>
            <a:srgbClr val="C8C8C8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v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44810" y="5815330"/>
            <a:ext cx="41021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03280" y="5815330"/>
            <a:ext cx="41021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21600" y="6249670"/>
            <a:ext cx="3136900" cy="2654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Calibri"/>
              </a:rPr>
              <a:t>Update page on insertion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62900" y="72390"/>
            <a:ext cx="1568450" cy="3136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Calibri"/>
              </a:rPr>
              <a:t>M-cache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5500" y="361950"/>
            <a:ext cx="60325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LRU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14870" y="530860"/>
            <a:ext cx="57912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14870" y="530860"/>
            <a:ext cx="57912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ID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93990" y="530860"/>
            <a:ext cx="50673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793990" y="530860"/>
            <a:ext cx="50673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00720" y="530860"/>
            <a:ext cx="207518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00720" y="530860"/>
            <a:ext cx="207518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W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214870" y="820420"/>
            <a:ext cx="57912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214870" y="820420"/>
            <a:ext cx="57912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93990" y="820420"/>
            <a:ext cx="50673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793990" y="820420"/>
            <a:ext cx="50673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D02020"/>
                </a:solidFill>
                <a:latin typeface="Calibri"/>
              </a:rPr>
              <a:t>14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300720" y="820420"/>
            <a:ext cx="207518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300720" y="820420"/>
            <a:ext cx="207518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z:</a:t>
            </a:r>
            <a:r>
              <a:rPr sz="1000" b="0">
                <a:solidFill>
                  <a:srgbClr val="D02020"/>
                </a:solidFill>
                <a:latin typeface="Calibri"/>
              </a:rPr>
              <a:t>7</a:t>
            </a:r>
            <a:r>
              <a:rPr sz="1000" b="0">
                <a:solidFill>
                  <a:srgbClr val="222222"/>
                </a:solidFill>
                <a:latin typeface="Calibri"/>
              </a:rPr>
              <a:t>, v:4, w:3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14870" y="1109980"/>
            <a:ext cx="57912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14870" y="1109980"/>
            <a:ext cx="57912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93990" y="1109980"/>
            <a:ext cx="50673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793990" y="1109980"/>
            <a:ext cx="50673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300720" y="1109980"/>
            <a:ext cx="207518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300720" y="1109980"/>
            <a:ext cx="207518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r:3, s:2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214870" y="1399540"/>
            <a:ext cx="57912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214870" y="1399540"/>
            <a:ext cx="57912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…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793990" y="1399540"/>
            <a:ext cx="50673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793990" y="1399540"/>
            <a:ext cx="50673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…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300720" y="1399540"/>
            <a:ext cx="207518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300720" y="1399540"/>
            <a:ext cx="207518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…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214870" y="1689100"/>
            <a:ext cx="57912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214870" y="1689100"/>
            <a:ext cx="57912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q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793990" y="1689100"/>
            <a:ext cx="50673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793990" y="1689100"/>
            <a:ext cx="50673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300720" y="1689100"/>
            <a:ext cx="207518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300720" y="1689100"/>
            <a:ext cx="207518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y:1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7214870" y="1689100"/>
            <a:ext cx="3161030" cy="289560"/>
          </a:xfrm>
          <a:prstGeom prst="line">
            <a:avLst/>
          </a:prstGeom>
          <a:ln w="19050">
            <a:solidFill>
              <a:srgbClr val="6F8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214870" y="1689100"/>
            <a:ext cx="3161030" cy="289560"/>
          </a:xfrm>
          <a:prstGeom prst="line">
            <a:avLst/>
          </a:prstGeom>
          <a:ln w="19050">
            <a:solidFill>
              <a:srgbClr val="6F8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5863590" y="844550"/>
            <a:ext cx="410210" cy="3860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z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297930" y="1037590"/>
            <a:ext cx="89281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515100" y="796290"/>
            <a:ext cx="36195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5C8A"/>
                </a:solidFill>
                <a:latin typeface="Calibri"/>
              </a:rPr>
              <a:t>(2)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19975" y="2111375"/>
            <a:ext cx="96520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Calibri"/>
              </a:rPr>
              <a:t>Max Heap</a:t>
            </a:r>
          </a:p>
        </p:txBody>
      </p:sp>
      <p:cxnSp>
        <p:nvCxnSpPr>
          <p:cNvPr id="117" name="Connector 116"/>
          <p:cNvCxnSpPr/>
          <p:nvPr/>
        </p:nvCxnSpPr>
        <p:spPr>
          <a:xfrm flipH="1">
            <a:off x="7552690" y="2533650"/>
            <a:ext cx="180975" cy="422275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854315" y="2533650"/>
            <a:ext cx="205105" cy="422275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7637145" y="2280285"/>
            <a:ext cx="313690" cy="313690"/>
          </a:xfrm>
          <a:prstGeom prst="ellipse">
            <a:avLst/>
          </a:prstGeom>
          <a:solidFill>
            <a:srgbClr val="1A1A1A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0" name="Oval 119"/>
          <p:cNvSpPr/>
          <p:nvPr/>
        </p:nvSpPr>
        <p:spPr>
          <a:xfrm>
            <a:off x="7347585" y="2919730"/>
            <a:ext cx="313690" cy="313690"/>
          </a:xfrm>
          <a:prstGeom prst="ellipse">
            <a:avLst/>
          </a:prstGeom>
          <a:solidFill>
            <a:srgbClr val="C8C8C8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222222"/>
                </a:solidFill>
                <a:latin typeface="Calibri"/>
              </a:rPr>
              <a:t>D</a:t>
            </a:r>
          </a:p>
        </p:txBody>
      </p:sp>
      <p:sp>
        <p:nvSpPr>
          <p:cNvPr id="121" name="Oval 120"/>
          <p:cNvSpPr/>
          <p:nvPr/>
        </p:nvSpPr>
        <p:spPr>
          <a:xfrm>
            <a:off x="7950835" y="2919730"/>
            <a:ext cx="313690" cy="313690"/>
          </a:xfrm>
          <a:prstGeom prst="ellipse">
            <a:avLst/>
          </a:prstGeom>
          <a:solidFill>
            <a:srgbClr val="C8C8C8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222222"/>
                </a:solidFill>
                <a:latin typeface="Calibri"/>
              </a:rPr>
              <a:t>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395845" y="3426460"/>
            <a:ext cx="844550" cy="31369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NonSeed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531350" y="2111375"/>
            <a:ext cx="96520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Calibri"/>
              </a:rPr>
              <a:t>Min Heap</a:t>
            </a:r>
          </a:p>
        </p:txBody>
      </p:sp>
      <p:cxnSp>
        <p:nvCxnSpPr>
          <p:cNvPr id="124" name="Connector 123"/>
          <p:cNvCxnSpPr/>
          <p:nvPr/>
        </p:nvCxnSpPr>
        <p:spPr>
          <a:xfrm flipH="1">
            <a:off x="9772650" y="2533650"/>
            <a:ext cx="180975" cy="422275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074275" y="2533650"/>
            <a:ext cx="205105" cy="422275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9857105" y="2280285"/>
            <a:ext cx="313690" cy="313690"/>
          </a:xfrm>
          <a:prstGeom prst="ellipse">
            <a:avLst/>
          </a:prstGeom>
          <a:solidFill>
            <a:srgbClr val="1A1A1A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7" name="Oval 126"/>
          <p:cNvSpPr/>
          <p:nvPr/>
        </p:nvSpPr>
        <p:spPr>
          <a:xfrm>
            <a:off x="9567545" y="2919730"/>
            <a:ext cx="313690" cy="313690"/>
          </a:xfrm>
          <a:prstGeom prst="ellipse">
            <a:avLst/>
          </a:prstGeom>
          <a:solidFill>
            <a:srgbClr val="1A1A1A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8" name="Oval 127"/>
          <p:cNvSpPr/>
          <p:nvPr/>
        </p:nvSpPr>
        <p:spPr>
          <a:xfrm>
            <a:off x="10170795" y="2919730"/>
            <a:ext cx="313690" cy="313690"/>
          </a:xfrm>
          <a:prstGeom prst="ellipse">
            <a:avLst/>
          </a:prstGeom>
          <a:solidFill>
            <a:srgbClr val="1A1A1A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627870" y="3426460"/>
            <a:ext cx="844550" cy="31369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Seed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445500" y="2340610"/>
            <a:ext cx="108585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5C8A"/>
                </a:solidFill>
                <a:latin typeface="Calibri"/>
              </a:rPr>
              <a:t>H(A) &gt; H(B)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807450" y="2581910"/>
            <a:ext cx="36195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5C8A"/>
                </a:solidFill>
                <a:latin typeface="Calibri"/>
              </a:rPr>
              <a:t>(3)</a:t>
            </a:r>
          </a:p>
        </p:txBody>
      </p:sp>
      <p:cxnSp>
        <p:nvCxnSpPr>
          <p:cNvPr id="132" name="Connector 131"/>
          <p:cNvCxnSpPr/>
          <p:nvPr/>
        </p:nvCxnSpPr>
        <p:spPr>
          <a:xfrm flipH="1">
            <a:off x="5405120" y="2437130"/>
            <a:ext cx="2219960" cy="4826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6394450" y="2244090"/>
            <a:ext cx="36195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5C8A"/>
                </a:solidFill>
                <a:latin typeface="Calibri"/>
              </a:rPr>
              <a:t>(4)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